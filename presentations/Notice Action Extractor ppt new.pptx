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Montserrat Bold" charset="1" panose="00000800000000000000"/>
      <p:regular r:id="rId25"/>
    </p:embeddedFont>
    <p:embeddedFont>
      <p:font typeface="Open Sans" charset="1" panose="00000000000000000000"/>
      <p:regular r:id="rId26"/>
    </p:embeddedFont>
    <p:embeddedFont>
      <p:font typeface="Open Sans Bold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66700" cy="10287000"/>
            <a:chOff x="0" y="0"/>
            <a:chExt cx="355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5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6B57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5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16000" y="1047750"/>
            <a:ext cx="3143250" cy="3143250"/>
            <a:chOff x="0" y="0"/>
            <a:chExt cx="4191000" cy="419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91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4191000">
                  <a:moveTo>
                    <a:pt x="2095500" y="0"/>
                  </a:moveTo>
                  <a:cubicBezTo>
                    <a:pt x="3252813" y="0"/>
                    <a:pt x="4191000" y="938187"/>
                    <a:pt x="4191000" y="2095500"/>
                  </a:cubicBezTo>
                  <a:cubicBezTo>
                    <a:pt x="4191000" y="3252813"/>
                    <a:pt x="3252813" y="4191000"/>
                    <a:pt x="2095500" y="4191000"/>
                  </a:cubicBezTo>
                  <a:cubicBezTo>
                    <a:pt x="938187" y="4191000"/>
                    <a:pt x="0" y="3252813"/>
                    <a:pt x="0" y="2095500"/>
                  </a:cubicBezTo>
                  <a:cubicBezTo>
                    <a:pt x="0" y="938187"/>
                    <a:pt x="938187" y="0"/>
                    <a:pt x="2095500" y="0"/>
                  </a:cubicBezTo>
                  <a:close/>
                </a:path>
              </a:pathLst>
            </a:custGeom>
            <a:solidFill>
              <a:srgbClr val="FF6B57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7727355" y="1819615"/>
            <a:ext cx="11239500" cy="2214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26"/>
              </a:lnSpc>
            </a:pPr>
            <a:r>
              <a:rPr lang="en-US" sz="8700" b="true">
                <a:solidFill>
                  <a:srgbClr val="F4F1E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Notice Action</a:t>
            </a:r>
          </a:p>
          <a:p>
            <a:pPr algn="l">
              <a:lnSpc>
                <a:spcPts val="8526"/>
              </a:lnSpc>
            </a:pPr>
            <a:r>
              <a:rPr lang="en-US" sz="8700" b="true">
                <a:solidFill>
                  <a:srgbClr val="F4F1E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Extractor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5133975"/>
            <a:ext cx="857250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9EE8C2"/>
                </a:solidFill>
                <a:latin typeface="Open Sans"/>
                <a:ea typeface="Open Sans"/>
                <a:cs typeface="Open Sans"/>
                <a:sym typeface="Open Sans"/>
              </a:rPr>
              <a:t>College Notice → Student Action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7391400"/>
            <a:ext cx="666750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4F1EA"/>
                </a:solidFill>
                <a:latin typeface="Open Sans"/>
                <a:ea typeface="Open Sans"/>
                <a:cs typeface="Open Sans"/>
                <a:sym typeface="Open Sans"/>
              </a:rPr>
              <a:t>Harsh Yadav · 23FE10CDS00273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7924800"/>
            <a:ext cx="666750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4F1EA"/>
                </a:solidFill>
                <a:latin typeface="Open Sans"/>
                <a:ea typeface="Open Sans"/>
                <a:cs typeface="Open Sans"/>
                <a:sym typeface="Open Sans"/>
              </a:rPr>
              <a:t>Data Science · Section 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750" y="8458200"/>
            <a:ext cx="666750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4F1EA"/>
                </a:solidFill>
                <a:latin typeface="Open Sans"/>
                <a:ea typeface="Open Sans"/>
                <a:cs typeface="Open Sans"/>
                <a:sym typeface="Open Sans"/>
              </a:rPr>
              <a:t>GitHub: 12harsh-spec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14375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40" b="true">
                <a:solidFill>
                  <a:srgbClr val="FF6B5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295400"/>
            <a:ext cx="14668500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true">
                <a:solidFill>
                  <a:srgbClr val="17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College notices hide the work students must 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2628900"/>
            <a:ext cx="1362075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72033"/>
                </a:solidFill>
                <a:latin typeface="Open Sans"/>
                <a:ea typeface="Open Sans"/>
                <a:cs typeface="Open Sans"/>
                <a:sym typeface="Open Sans"/>
              </a:rPr>
              <a:t>Circulars, emails, and forwarded notices contain the right information, but rarely in the shape a student needs.</a:t>
            </a:r>
          </a:p>
        </p:txBody>
      </p:sp>
      <p:sp>
        <p:nvSpPr>
          <p:cNvPr name="AutoShape 5" id="5"/>
          <p:cNvSpPr/>
          <p:nvPr/>
        </p:nvSpPr>
        <p:spPr>
          <a:xfrm>
            <a:off x="2857500" y="4762500"/>
            <a:ext cx="12477750" cy="0"/>
          </a:xfrm>
          <a:prstGeom prst="line">
            <a:avLst/>
          </a:prstGeom>
          <a:ln cap="rnd" w="57150">
            <a:solidFill>
              <a:srgbClr val="FF6B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47750" y="4191000"/>
            <a:ext cx="1143000" cy="1143000"/>
            <a:chOff x="0" y="0"/>
            <a:chExt cx="1524000" cy="152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190500" y="0"/>
                  </a:moveTo>
                  <a:lnTo>
                    <a:pt x="1333500" y="0"/>
                  </a:lnTo>
                  <a:cubicBezTo>
                    <a:pt x="1438710" y="0"/>
                    <a:pt x="1524000" y="85290"/>
                    <a:pt x="1524000" y="190500"/>
                  </a:cubicBezTo>
                  <a:lnTo>
                    <a:pt x="1524000" y="1333500"/>
                  </a:lnTo>
                  <a:cubicBezTo>
                    <a:pt x="1524000" y="1438710"/>
                    <a:pt x="1438710" y="1524000"/>
                    <a:pt x="1333500" y="1524000"/>
                  </a:cubicBezTo>
                  <a:lnTo>
                    <a:pt x="190500" y="1524000"/>
                  </a:lnTo>
                  <a:cubicBezTo>
                    <a:pt x="85290" y="1524000"/>
                    <a:pt x="0" y="1438710"/>
                    <a:pt x="0" y="1333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172033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15240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NOTICE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11500" y="4191000"/>
            <a:ext cx="1143000" cy="1143000"/>
            <a:chOff x="0" y="0"/>
            <a:chExt cx="1524000" cy="152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190500" y="0"/>
                  </a:moveTo>
                  <a:lnTo>
                    <a:pt x="1333500" y="0"/>
                  </a:lnTo>
                  <a:cubicBezTo>
                    <a:pt x="1438710" y="0"/>
                    <a:pt x="1524000" y="85290"/>
                    <a:pt x="1524000" y="190500"/>
                  </a:cubicBezTo>
                  <a:lnTo>
                    <a:pt x="1524000" y="1333500"/>
                  </a:lnTo>
                  <a:cubicBezTo>
                    <a:pt x="1524000" y="1438710"/>
                    <a:pt x="1438710" y="1524000"/>
                    <a:pt x="1333500" y="1524000"/>
                  </a:cubicBezTo>
                  <a:lnTo>
                    <a:pt x="190500" y="1524000"/>
                  </a:lnTo>
                  <a:cubicBezTo>
                    <a:pt x="85290" y="1524000"/>
                    <a:pt x="0" y="1438710"/>
                    <a:pt x="0" y="1333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6B57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15240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ACTION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3000" y="5715000"/>
            <a:ext cx="7524750" cy="2476500"/>
            <a:chOff x="0" y="0"/>
            <a:chExt cx="10033000" cy="3302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033000" cy="3302000"/>
              <a:chOff x="0" y="0"/>
              <a:chExt cx="10033000" cy="3302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033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033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35000" y="342900"/>
              <a:ext cx="8763000" cy="1358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Tasks, deadlines, event dates and times, priorities, required documents, affected students, and related requirements.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25000" y="5715000"/>
            <a:ext cx="7524750" cy="2476500"/>
            <a:chOff x="0" y="0"/>
            <a:chExt cx="10033000" cy="3302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0033000" cy="3302000"/>
              <a:chOff x="0" y="0"/>
              <a:chExt cx="10033000" cy="3302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033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0033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35000" y="342900"/>
              <a:ext cx="8509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Students need outputs designed for quick action through checklists and calendar export.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14375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40" b="true">
                <a:solidFill>
                  <a:srgbClr val="FF6B5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USER NEED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285875"/>
            <a:ext cx="15240000" cy="59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4275" b="true">
                <a:solidFill>
                  <a:srgbClr val="17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Students read notices as prose, but act on a checklist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3333750"/>
            <a:ext cx="7429500" cy="4286250"/>
            <a:chOff x="0" y="0"/>
            <a:chExt cx="9906000" cy="5715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906000" cy="5715000"/>
              <a:chOff x="0" y="0"/>
              <a:chExt cx="9906000" cy="5715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906000" cy="5715000"/>
              </a:xfrm>
              <a:custGeom>
                <a:avLst/>
                <a:gdLst/>
                <a:ahLst/>
                <a:cxnLst/>
                <a:rect r="r" b="b" t="t" l="l"/>
                <a:pathLst>
                  <a:path h="57150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5715000"/>
                    </a:lnTo>
                    <a:lnTo>
                      <a:pt x="0" y="571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9906000" cy="575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35000" y="469900"/>
              <a:ext cx="38100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FF6B5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READ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635000" y="1266825"/>
              <a:ext cx="8255000" cy="69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true">
                  <a:solidFill>
                    <a:srgbClr val="17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Long, unstructured text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635000" y="2565400"/>
              <a:ext cx="8255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Important instructions are buried inside long, unstructured text.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0" y="3333750"/>
            <a:ext cx="7429500" cy="4286250"/>
            <a:chOff x="0" y="0"/>
            <a:chExt cx="9906000" cy="5715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906000" cy="5715000"/>
              <a:chOff x="0" y="0"/>
              <a:chExt cx="9906000" cy="5715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906000" cy="5715000"/>
              </a:xfrm>
              <a:custGeom>
                <a:avLst/>
                <a:gdLst/>
                <a:ahLst/>
                <a:cxnLst/>
                <a:rect r="r" b="b" t="t" l="l"/>
                <a:pathLst>
                  <a:path h="57150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5715000"/>
                    </a:lnTo>
                    <a:lnTo>
                      <a:pt x="0" y="5715000"/>
                    </a:ln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9906000" cy="575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35000" y="469900"/>
              <a:ext cx="38100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17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ACT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35000" y="1266825"/>
              <a:ext cx="8255000" cy="696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09"/>
                </a:lnSpc>
              </a:pPr>
              <a:r>
                <a:rPr lang="en-US" sz="3150" b="true">
                  <a:solidFill>
                    <a:srgbClr val="17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Short, visible actions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35000" y="2565400"/>
              <a:ext cx="8255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Students need a faster path from 'what does this say?' to 'what do I do next?'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47750" y="8734425"/>
            <a:ext cx="1524000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Dates, fees, forms, documents, and eligibility conditions are easy to overlook.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14375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40" b="true">
                <a:solidFill>
                  <a:srgbClr val="9EE8C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WHY EXTRACTION MATTERS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295400"/>
            <a:ext cx="1428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F4F1E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cost of ambiguity is missed action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43000" y="3333750"/>
            <a:ext cx="14097000" cy="552450"/>
            <a:chOff x="0" y="0"/>
            <a:chExt cx="18796000" cy="7366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736600" cy="736600"/>
              <a:chOff x="0" y="0"/>
              <a:chExt cx="736600" cy="7366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366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736600">
                    <a:moveTo>
                      <a:pt x="368300" y="0"/>
                    </a:moveTo>
                    <a:cubicBezTo>
                      <a:pt x="571706" y="0"/>
                      <a:pt x="736600" y="164894"/>
                      <a:pt x="736600" y="368300"/>
                    </a:cubicBezTo>
                    <a:cubicBezTo>
                      <a:pt x="736600" y="571706"/>
                      <a:pt x="571706" y="736600"/>
                      <a:pt x="368300" y="736600"/>
                    </a:cubicBezTo>
                    <a:cubicBezTo>
                      <a:pt x="164894" y="736600"/>
                      <a:pt x="0" y="571706"/>
                      <a:pt x="0" y="368300"/>
                    </a:cubicBezTo>
                    <a:cubicBezTo>
                      <a:pt x="0" y="164894"/>
                      <a:pt x="164894" y="0"/>
                      <a:pt x="3683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2286000" y="-38100"/>
              <a:ext cx="16510000" cy="472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Missed deadlines and confusing date references.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4476750"/>
            <a:ext cx="14097000" cy="552450"/>
            <a:chOff x="0" y="0"/>
            <a:chExt cx="18796000" cy="7366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36600" cy="736600"/>
              <a:chOff x="0" y="0"/>
              <a:chExt cx="736600" cy="7366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366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736600">
                    <a:moveTo>
                      <a:pt x="368300" y="0"/>
                    </a:moveTo>
                    <a:cubicBezTo>
                      <a:pt x="571706" y="0"/>
                      <a:pt x="736600" y="164894"/>
                      <a:pt x="736600" y="368300"/>
                    </a:cubicBezTo>
                    <a:cubicBezTo>
                      <a:pt x="736600" y="571706"/>
                      <a:pt x="571706" y="736600"/>
                      <a:pt x="368300" y="736600"/>
                    </a:cubicBezTo>
                    <a:cubicBezTo>
                      <a:pt x="164894" y="736600"/>
                      <a:pt x="0" y="571706"/>
                      <a:pt x="0" y="368300"/>
                    </a:cubicBezTo>
                    <a:cubicBezTo>
                      <a:pt x="0" y="164894"/>
                      <a:pt x="164894" y="0"/>
                      <a:pt x="3683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2286000" y="-38100"/>
              <a:ext cx="16510000" cy="472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Fees and payment instructions are easy to miss.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3000" y="5619750"/>
            <a:ext cx="14097000" cy="552450"/>
            <a:chOff x="0" y="0"/>
            <a:chExt cx="18796000" cy="7366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736600" cy="736600"/>
              <a:chOff x="0" y="0"/>
              <a:chExt cx="736600" cy="7366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366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736600">
                    <a:moveTo>
                      <a:pt x="368300" y="0"/>
                    </a:moveTo>
                    <a:cubicBezTo>
                      <a:pt x="571706" y="0"/>
                      <a:pt x="736600" y="164894"/>
                      <a:pt x="736600" y="368300"/>
                    </a:cubicBezTo>
                    <a:cubicBezTo>
                      <a:pt x="736600" y="571706"/>
                      <a:pt x="571706" y="736600"/>
                      <a:pt x="368300" y="736600"/>
                    </a:cubicBezTo>
                    <a:cubicBezTo>
                      <a:pt x="164894" y="736600"/>
                      <a:pt x="0" y="571706"/>
                      <a:pt x="0" y="368300"/>
                    </a:cubicBezTo>
                    <a:cubicBezTo>
                      <a:pt x="0" y="164894"/>
                      <a:pt x="164894" y="0"/>
                      <a:pt x="3683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2286000" y="-38100"/>
              <a:ext cx="16510000" cy="472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Required documents may be discovered too late.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43000" y="6762750"/>
            <a:ext cx="14097000" cy="552450"/>
            <a:chOff x="0" y="0"/>
            <a:chExt cx="18796000" cy="7366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736600" cy="736600"/>
              <a:chOff x="0" y="0"/>
              <a:chExt cx="736600" cy="7366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366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736600">
                    <a:moveTo>
                      <a:pt x="368300" y="0"/>
                    </a:moveTo>
                    <a:cubicBezTo>
                      <a:pt x="571706" y="0"/>
                      <a:pt x="736600" y="164894"/>
                      <a:pt x="736600" y="368300"/>
                    </a:cubicBezTo>
                    <a:cubicBezTo>
                      <a:pt x="736600" y="571706"/>
                      <a:pt x="571706" y="736600"/>
                      <a:pt x="368300" y="736600"/>
                    </a:cubicBezTo>
                    <a:cubicBezTo>
                      <a:pt x="164894" y="736600"/>
                      <a:pt x="0" y="571706"/>
                      <a:pt x="0" y="368300"/>
                    </a:cubicBezTo>
                    <a:cubicBezTo>
                      <a:pt x="0" y="164894"/>
                      <a:pt x="164894" y="0"/>
                      <a:pt x="3683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2286000" y="-38100"/>
              <a:ext cx="16510000" cy="472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Eligibility conditions can be separated from the action they affect.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43000" y="7905750"/>
            <a:ext cx="14097000" cy="552450"/>
            <a:chOff x="0" y="0"/>
            <a:chExt cx="18796000" cy="7366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736600" cy="736600"/>
              <a:chOff x="0" y="0"/>
              <a:chExt cx="736600" cy="7366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736600" cy="736600"/>
              </a:xfrm>
              <a:custGeom>
                <a:avLst/>
                <a:gdLst/>
                <a:ahLst/>
                <a:cxnLst/>
                <a:rect r="r" b="b" t="t" l="l"/>
                <a:pathLst>
                  <a:path h="736600" w="736600">
                    <a:moveTo>
                      <a:pt x="368300" y="0"/>
                    </a:moveTo>
                    <a:cubicBezTo>
                      <a:pt x="571706" y="0"/>
                      <a:pt x="736600" y="164894"/>
                      <a:pt x="736600" y="368300"/>
                    </a:cubicBezTo>
                    <a:cubicBezTo>
                      <a:pt x="736600" y="571706"/>
                      <a:pt x="571706" y="736600"/>
                      <a:pt x="368300" y="736600"/>
                    </a:cubicBezTo>
                    <a:cubicBezTo>
                      <a:pt x="164894" y="736600"/>
                      <a:pt x="0" y="571706"/>
                      <a:pt x="0" y="368300"/>
                    </a:cubicBezTo>
                    <a:cubicBezTo>
                      <a:pt x="0" y="164894"/>
                      <a:pt x="164894" y="0"/>
                      <a:pt x="368300" y="0"/>
                    </a:cubicBezTo>
                    <a:close/>
                  </a:path>
                </a:pathLst>
              </a:custGeom>
              <a:solidFill>
                <a:srgbClr val="FF6B57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2286000" y="-38100"/>
              <a:ext cx="16510000" cy="472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Manual extraction takes time and is inconsistent.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14375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40" b="true">
                <a:solidFill>
                  <a:srgbClr val="FF6B5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295400"/>
            <a:ext cx="1428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7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Extract the details that drive action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3333750"/>
            <a:ext cx="7810500" cy="2238375"/>
            <a:chOff x="0" y="0"/>
            <a:chExt cx="10414000" cy="29845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414000" cy="2984500"/>
              <a:chOff x="0" y="0"/>
              <a:chExt cx="10414000" cy="29845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414000" cy="2984500"/>
              </a:xfrm>
              <a:custGeom>
                <a:avLst/>
                <a:gdLst/>
                <a:ahLst/>
                <a:cxnLst/>
                <a:rect r="r" b="b" t="t" l="l"/>
                <a:pathLst>
                  <a:path h="2984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984500"/>
                    </a:lnTo>
                    <a:lnTo>
                      <a:pt x="0" y="2984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0414000" cy="302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508000" y="358775"/>
              <a:ext cx="1270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FF6B5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905000" y="358775"/>
              <a:ext cx="7493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17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Find obligations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905000" y="1181100"/>
              <a:ext cx="7493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Identify student obligations and actionable tasks.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29750" y="3333750"/>
            <a:ext cx="7810500" cy="2238375"/>
            <a:chOff x="0" y="0"/>
            <a:chExt cx="10414000" cy="29845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0414000" cy="2984500"/>
              <a:chOff x="0" y="0"/>
              <a:chExt cx="10414000" cy="29845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414000" cy="2984500"/>
              </a:xfrm>
              <a:custGeom>
                <a:avLst/>
                <a:gdLst/>
                <a:ahLst/>
                <a:cxnLst/>
                <a:rect r="r" b="b" t="t" l="l"/>
                <a:pathLst>
                  <a:path h="2984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984500"/>
                    </a:lnTo>
                    <a:lnTo>
                      <a:pt x="0" y="2984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414000" cy="302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08000" y="358775"/>
              <a:ext cx="1270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FF6B5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905000" y="358775"/>
              <a:ext cx="7493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17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Separate dates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905000" y="1181100"/>
              <a:ext cx="7493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Separate deadlines from event dates and capture times.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47750" y="6048375"/>
            <a:ext cx="7810500" cy="2238375"/>
            <a:chOff x="0" y="0"/>
            <a:chExt cx="10414000" cy="29845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414000" cy="2984500"/>
              <a:chOff x="0" y="0"/>
              <a:chExt cx="10414000" cy="2984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414000" cy="2984500"/>
              </a:xfrm>
              <a:custGeom>
                <a:avLst/>
                <a:gdLst/>
                <a:ahLst/>
                <a:cxnLst/>
                <a:rect r="r" b="b" t="t" l="l"/>
                <a:pathLst>
                  <a:path h="2984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984500"/>
                    </a:lnTo>
                    <a:lnTo>
                      <a:pt x="0" y="2984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414000" cy="302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08000" y="358775"/>
              <a:ext cx="1270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FF6B5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905000" y="358775"/>
              <a:ext cx="7493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17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Capture context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905000" y="1181100"/>
              <a:ext cx="7493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Detect priorities, required documents, affected students, and related requirements.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29750" y="6048375"/>
            <a:ext cx="7810500" cy="2238375"/>
            <a:chOff x="0" y="0"/>
            <a:chExt cx="10414000" cy="29845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0414000" cy="2984500"/>
              <a:chOff x="0" y="0"/>
              <a:chExt cx="10414000" cy="29845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414000" cy="2984500"/>
              </a:xfrm>
              <a:custGeom>
                <a:avLst/>
                <a:gdLst/>
                <a:ahLst/>
                <a:cxnLst/>
                <a:rect r="r" b="b" t="t" l="l"/>
                <a:pathLst>
                  <a:path h="2984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2984500"/>
                    </a:lnTo>
                    <a:lnTo>
                      <a:pt x="0" y="2984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0414000" cy="3022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508000" y="358775"/>
              <a:ext cx="1270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true">
                  <a:solidFill>
                    <a:srgbClr val="FF6B5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905000" y="358775"/>
              <a:ext cx="7493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17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Return action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905000" y="1181100"/>
              <a:ext cx="7493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Return structured, student-friendly results. Support checklist and calendar export.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1009650"/>
            <a:ext cx="1571625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F4F1E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unstructured notice to an actionable plan</a:t>
            </a:r>
          </a:p>
        </p:txBody>
      </p:sp>
      <p:sp>
        <p:nvSpPr>
          <p:cNvPr name="AutoShape 3" id="3"/>
          <p:cNvSpPr/>
          <p:nvPr/>
        </p:nvSpPr>
        <p:spPr>
          <a:xfrm>
            <a:off x="2571750" y="4000500"/>
            <a:ext cx="13144500" cy="0"/>
          </a:xfrm>
          <a:prstGeom prst="line">
            <a:avLst/>
          </a:prstGeom>
          <a:ln cap="rnd" w="47625">
            <a:solidFill>
              <a:srgbClr val="9EE8C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85875" y="3429000"/>
            <a:ext cx="3238500" cy="3028474"/>
            <a:chOff x="0" y="0"/>
            <a:chExt cx="4318000" cy="403796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952500" y="0"/>
              <a:ext cx="1524000" cy="1524000"/>
              <a:chOff x="0" y="0"/>
              <a:chExt cx="1524000" cy="1524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524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1524000">
                    <a:moveTo>
                      <a:pt x="762000" y="0"/>
                    </a:moveTo>
                    <a:cubicBezTo>
                      <a:pt x="1182841" y="0"/>
                      <a:pt x="1524000" y="341159"/>
                      <a:pt x="1524000" y="762000"/>
                    </a:cubicBezTo>
                    <a:cubicBezTo>
                      <a:pt x="1524000" y="1182841"/>
                      <a:pt x="1182841" y="1524000"/>
                      <a:pt x="762000" y="1524000"/>
                    </a:cubicBezTo>
                    <a:cubicBezTo>
                      <a:pt x="341159" y="1524000"/>
                      <a:pt x="0" y="1182841"/>
                      <a:pt x="0" y="762000"/>
                    </a:cubicBezTo>
                    <a:cubicBezTo>
                      <a:pt x="0" y="341159"/>
                      <a:pt x="341159" y="0"/>
                      <a:pt x="7620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254000" y="2111375"/>
              <a:ext cx="381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4F1E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Accept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136900"/>
              <a:ext cx="4318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Paste notice text or upload a .txt file.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76875" y="3429000"/>
            <a:ext cx="3238500" cy="3028474"/>
            <a:chOff x="0" y="0"/>
            <a:chExt cx="4318000" cy="403796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952500" y="0"/>
              <a:ext cx="1524000" cy="1524000"/>
              <a:chOff x="0" y="0"/>
              <a:chExt cx="1524000" cy="1524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524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1524000">
                    <a:moveTo>
                      <a:pt x="762000" y="0"/>
                    </a:moveTo>
                    <a:cubicBezTo>
                      <a:pt x="1182841" y="0"/>
                      <a:pt x="1524000" y="341159"/>
                      <a:pt x="1524000" y="762000"/>
                    </a:cubicBezTo>
                    <a:cubicBezTo>
                      <a:pt x="1524000" y="1182841"/>
                      <a:pt x="1182841" y="1524000"/>
                      <a:pt x="762000" y="1524000"/>
                    </a:cubicBezTo>
                    <a:cubicBezTo>
                      <a:pt x="341159" y="1524000"/>
                      <a:pt x="0" y="1182841"/>
                      <a:pt x="0" y="762000"/>
                    </a:cubicBezTo>
                    <a:cubicBezTo>
                      <a:pt x="0" y="341159"/>
                      <a:pt x="341159" y="0"/>
                      <a:pt x="7620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254000" y="2111375"/>
              <a:ext cx="381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4F1E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Extract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3136900"/>
              <a:ext cx="4318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Apply one shared prompt and structured schema.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67875" y="3429000"/>
            <a:ext cx="3238500" cy="3028474"/>
            <a:chOff x="0" y="0"/>
            <a:chExt cx="4318000" cy="4037965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952500" y="0"/>
              <a:ext cx="1524000" cy="1524000"/>
              <a:chOff x="0" y="0"/>
              <a:chExt cx="1524000" cy="1524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524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1524000">
                    <a:moveTo>
                      <a:pt x="762000" y="0"/>
                    </a:moveTo>
                    <a:cubicBezTo>
                      <a:pt x="1182841" y="0"/>
                      <a:pt x="1524000" y="341159"/>
                      <a:pt x="1524000" y="762000"/>
                    </a:cubicBezTo>
                    <a:cubicBezTo>
                      <a:pt x="1524000" y="1182841"/>
                      <a:pt x="1182841" y="1524000"/>
                      <a:pt x="762000" y="1524000"/>
                    </a:cubicBezTo>
                    <a:cubicBezTo>
                      <a:pt x="341159" y="1524000"/>
                      <a:pt x="0" y="1182841"/>
                      <a:pt x="0" y="762000"/>
                    </a:cubicBezTo>
                    <a:cubicBezTo>
                      <a:pt x="0" y="341159"/>
                      <a:pt x="341159" y="0"/>
                      <a:pt x="7620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254000" y="2111375"/>
              <a:ext cx="381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4F1E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Validate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3136900"/>
              <a:ext cx="4318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Check and repair the structured response.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858875" y="3429000"/>
            <a:ext cx="3238500" cy="3371374"/>
            <a:chOff x="0" y="0"/>
            <a:chExt cx="4318000" cy="4495165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952500" y="0"/>
              <a:ext cx="1524000" cy="1524000"/>
              <a:chOff x="0" y="0"/>
              <a:chExt cx="1524000" cy="1524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524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1524000">
                    <a:moveTo>
                      <a:pt x="762000" y="0"/>
                    </a:moveTo>
                    <a:cubicBezTo>
                      <a:pt x="1182841" y="0"/>
                      <a:pt x="1524000" y="341159"/>
                      <a:pt x="1524000" y="762000"/>
                    </a:cubicBezTo>
                    <a:cubicBezTo>
                      <a:pt x="1524000" y="1182841"/>
                      <a:pt x="1182841" y="1524000"/>
                      <a:pt x="762000" y="1524000"/>
                    </a:cubicBezTo>
                    <a:cubicBezTo>
                      <a:pt x="341159" y="1524000"/>
                      <a:pt x="0" y="1182841"/>
                      <a:pt x="0" y="762000"/>
                    </a:cubicBezTo>
                    <a:cubicBezTo>
                      <a:pt x="0" y="341159"/>
                      <a:pt x="341159" y="0"/>
                      <a:pt x="762000" y="0"/>
                    </a:cubicBezTo>
                    <a:close/>
                  </a:path>
                </a:pathLst>
              </a:custGeom>
              <a:solidFill>
                <a:srgbClr val="FF6B57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254000" y="2111375"/>
              <a:ext cx="3810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4F1E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Present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3136900"/>
              <a:ext cx="4318000" cy="1358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Show actions, dates, requirements, and exports.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638175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40" b="true">
                <a:solidFill>
                  <a:srgbClr val="FF6B5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WORKFLOW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200150"/>
            <a:ext cx="1428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7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notice, six readable handoffs</a:t>
            </a:r>
          </a:p>
        </p:txBody>
      </p:sp>
      <p:sp>
        <p:nvSpPr>
          <p:cNvPr name="AutoShape 4" id="4"/>
          <p:cNvSpPr/>
          <p:nvPr/>
        </p:nvSpPr>
        <p:spPr>
          <a:xfrm>
            <a:off x="2095500" y="4000500"/>
            <a:ext cx="14097000" cy="0"/>
          </a:xfrm>
          <a:prstGeom prst="line">
            <a:avLst/>
          </a:prstGeom>
          <a:ln cap="rnd" w="38100">
            <a:solidFill>
              <a:srgbClr val="FF6B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52500" y="3476625"/>
            <a:ext cx="2476500" cy="2331720"/>
            <a:chOff x="0" y="0"/>
            <a:chExt cx="3302000" cy="310896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889000" y="0"/>
              <a:ext cx="1397000" cy="1397000"/>
              <a:chOff x="0" y="0"/>
              <a:chExt cx="1397000" cy="1397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39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397000">
                    <a:moveTo>
                      <a:pt x="698500" y="0"/>
                    </a:moveTo>
                    <a:cubicBezTo>
                      <a:pt x="1084271" y="0"/>
                      <a:pt x="1397000" y="312729"/>
                      <a:pt x="1397000" y="698500"/>
                    </a:cubicBezTo>
                    <a:cubicBezTo>
                      <a:pt x="1397000" y="1084271"/>
                      <a:pt x="1084271" y="1397000"/>
                      <a:pt x="698500" y="1397000"/>
                    </a:cubicBezTo>
                    <a:cubicBezTo>
                      <a:pt x="312729" y="1397000"/>
                      <a:pt x="0" y="1084271"/>
                      <a:pt x="0" y="698500"/>
                    </a:cubicBezTo>
                    <a:cubicBezTo>
                      <a:pt x="0" y="312729"/>
                      <a:pt x="312729" y="0"/>
                      <a:pt x="698500" y="0"/>
                    </a:cubicBezTo>
                    <a:close/>
                  </a:path>
                </a:pathLst>
              </a:custGeom>
              <a:solidFill>
                <a:srgbClr val="FF6B57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1993900"/>
              <a:ext cx="3302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17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Notice input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755900"/>
              <a:ext cx="33020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Paste or upload.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762375" y="3476625"/>
            <a:ext cx="2476500" cy="2331720"/>
            <a:chOff x="0" y="0"/>
            <a:chExt cx="3302000" cy="310896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889000" y="0"/>
              <a:ext cx="1397000" cy="1397000"/>
              <a:chOff x="0" y="0"/>
              <a:chExt cx="1397000" cy="1397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39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397000">
                    <a:moveTo>
                      <a:pt x="698500" y="0"/>
                    </a:moveTo>
                    <a:cubicBezTo>
                      <a:pt x="1084271" y="0"/>
                      <a:pt x="1397000" y="312729"/>
                      <a:pt x="1397000" y="698500"/>
                    </a:cubicBezTo>
                    <a:cubicBezTo>
                      <a:pt x="1397000" y="1084271"/>
                      <a:pt x="1084271" y="1397000"/>
                      <a:pt x="698500" y="1397000"/>
                    </a:cubicBezTo>
                    <a:cubicBezTo>
                      <a:pt x="312729" y="1397000"/>
                      <a:pt x="0" y="1084271"/>
                      <a:pt x="0" y="698500"/>
                    </a:cubicBezTo>
                    <a:cubicBezTo>
                      <a:pt x="0" y="312729"/>
                      <a:pt x="312729" y="0"/>
                      <a:pt x="6985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1993900"/>
              <a:ext cx="3302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17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Prompt / extraction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755900"/>
              <a:ext cx="33020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Interpret the prose.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572250" y="3476625"/>
            <a:ext cx="2476500" cy="2331720"/>
            <a:chOff x="0" y="0"/>
            <a:chExt cx="3302000" cy="310896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889000" y="0"/>
              <a:ext cx="1397000" cy="1397000"/>
              <a:chOff x="0" y="0"/>
              <a:chExt cx="1397000" cy="1397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9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397000">
                    <a:moveTo>
                      <a:pt x="698500" y="0"/>
                    </a:moveTo>
                    <a:cubicBezTo>
                      <a:pt x="1084271" y="0"/>
                      <a:pt x="1397000" y="312729"/>
                      <a:pt x="1397000" y="698500"/>
                    </a:cubicBezTo>
                    <a:cubicBezTo>
                      <a:pt x="1397000" y="1084271"/>
                      <a:pt x="1084271" y="1397000"/>
                      <a:pt x="698500" y="1397000"/>
                    </a:cubicBezTo>
                    <a:cubicBezTo>
                      <a:pt x="312729" y="1397000"/>
                      <a:pt x="0" y="1084271"/>
                      <a:pt x="0" y="698500"/>
                    </a:cubicBezTo>
                    <a:cubicBezTo>
                      <a:pt x="0" y="312729"/>
                      <a:pt x="312729" y="0"/>
                      <a:pt x="698500" y="0"/>
                    </a:cubicBezTo>
                    <a:close/>
                  </a:path>
                </a:pathLst>
              </a:custGeom>
              <a:solidFill>
                <a:srgbClr val="FF6B57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1993900"/>
              <a:ext cx="3302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17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JSON response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2755900"/>
              <a:ext cx="33020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Return structure.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82125" y="3476625"/>
            <a:ext cx="2476500" cy="2331720"/>
            <a:chOff x="0" y="0"/>
            <a:chExt cx="3302000" cy="310896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889000" y="0"/>
              <a:ext cx="1397000" cy="1397000"/>
              <a:chOff x="0" y="0"/>
              <a:chExt cx="1397000" cy="1397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39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397000">
                    <a:moveTo>
                      <a:pt x="698500" y="0"/>
                    </a:moveTo>
                    <a:cubicBezTo>
                      <a:pt x="1084271" y="0"/>
                      <a:pt x="1397000" y="312729"/>
                      <a:pt x="1397000" y="698500"/>
                    </a:cubicBezTo>
                    <a:cubicBezTo>
                      <a:pt x="1397000" y="1084271"/>
                      <a:pt x="1084271" y="1397000"/>
                      <a:pt x="698500" y="1397000"/>
                    </a:cubicBezTo>
                    <a:cubicBezTo>
                      <a:pt x="312729" y="1397000"/>
                      <a:pt x="0" y="1084271"/>
                      <a:pt x="0" y="698500"/>
                    </a:cubicBezTo>
                    <a:cubicBezTo>
                      <a:pt x="0" y="312729"/>
                      <a:pt x="312729" y="0"/>
                      <a:pt x="6985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0" y="1993900"/>
              <a:ext cx="3302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17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Validation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2755900"/>
              <a:ext cx="33020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Check the contract.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192000" y="3476625"/>
            <a:ext cx="2476500" cy="2331720"/>
            <a:chOff x="0" y="0"/>
            <a:chExt cx="3302000" cy="310896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889000" y="0"/>
              <a:ext cx="1397000" cy="1397000"/>
              <a:chOff x="0" y="0"/>
              <a:chExt cx="1397000" cy="1397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39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397000">
                    <a:moveTo>
                      <a:pt x="698500" y="0"/>
                    </a:moveTo>
                    <a:cubicBezTo>
                      <a:pt x="1084271" y="0"/>
                      <a:pt x="1397000" y="312729"/>
                      <a:pt x="1397000" y="698500"/>
                    </a:cubicBezTo>
                    <a:cubicBezTo>
                      <a:pt x="1397000" y="1084271"/>
                      <a:pt x="1084271" y="1397000"/>
                      <a:pt x="698500" y="1397000"/>
                    </a:cubicBezTo>
                    <a:cubicBezTo>
                      <a:pt x="312729" y="1397000"/>
                      <a:pt x="0" y="1084271"/>
                      <a:pt x="0" y="698500"/>
                    </a:cubicBezTo>
                    <a:cubicBezTo>
                      <a:pt x="0" y="312729"/>
                      <a:pt x="312729" y="0"/>
                      <a:pt x="698500" y="0"/>
                    </a:cubicBezTo>
                    <a:close/>
                  </a:path>
                </a:pathLst>
              </a:custGeom>
              <a:solidFill>
                <a:srgbClr val="FF6B57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0" y="1993900"/>
              <a:ext cx="3302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17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Structured actions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2755900"/>
              <a:ext cx="33020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Make work visible.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001875" y="3476625"/>
            <a:ext cx="2476500" cy="2331720"/>
            <a:chOff x="0" y="0"/>
            <a:chExt cx="3302000" cy="310896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889000" y="0"/>
              <a:ext cx="1397000" cy="1397000"/>
              <a:chOff x="0" y="0"/>
              <a:chExt cx="1397000" cy="1397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39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397000">
                    <a:moveTo>
                      <a:pt x="698500" y="0"/>
                    </a:moveTo>
                    <a:cubicBezTo>
                      <a:pt x="1084271" y="0"/>
                      <a:pt x="1397000" y="312729"/>
                      <a:pt x="1397000" y="698500"/>
                    </a:cubicBezTo>
                    <a:cubicBezTo>
                      <a:pt x="1397000" y="1084271"/>
                      <a:pt x="1084271" y="1397000"/>
                      <a:pt x="698500" y="1397000"/>
                    </a:cubicBezTo>
                    <a:cubicBezTo>
                      <a:pt x="312729" y="1397000"/>
                      <a:pt x="0" y="1084271"/>
                      <a:pt x="0" y="698500"/>
                    </a:cubicBezTo>
                    <a:cubicBezTo>
                      <a:pt x="0" y="312729"/>
                      <a:pt x="312729" y="0"/>
                      <a:pt x="6985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33" id="33"/>
            <p:cNvSpPr txBox="true"/>
            <p:nvPr/>
          </p:nvSpPr>
          <p:spPr>
            <a:xfrm rot="0">
              <a:off x="0" y="1993900"/>
              <a:ext cx="3302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17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Checklist / calendar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2755900"/>
              <a:ext cx="3302000" cy="35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5">
                  <a:solidFill>
                    <a:srgbClr val="667085"/>
                  </a:solidFill>
                  <a:latin typeface="Open Sans"/>
                  <a:ea typeface="Open Sans"/>
                  <a:cs typeface="Open Sans"/>
                  <a:sym typeface="Open Sans"/>
                </a:rPr>
                <a:t>Support follow-through.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47750" y="7858125"/>
            <a:ext cx="16192500" cy="952500"/>
            <a:chOff x="0" y="0"/>
            <a:chExt cx="21590000" cy="12700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21590000" cy="1270000"/>
              <a:chOff x="0" y="0"/>
              <a:chExt cx="21590000" cy="12700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1590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21590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21590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508000" y="415925"/>
              <a:ext cx="2032000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1720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DATE CONTEXT: Reference dates help resolve relative expressions such as “this Friday”.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638175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40" b="true">
                <a:solidFill>
                  <a:srgbClr val="9EE8C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IMPLEMENTATION 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190625"/>
            <a:ext cx="1571625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4125" b="true">
                <a:solidFill>
                  <a:srgbClr val="F4F1E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architecture: a small, testable Python application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3333750"/>
            <a:ext cx="5143500" cy="2095500"/>
            <a:chOff x="0" y="0"/>
            <a:chExt cx="6858000" cy="2794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858000" cy="2794000"/>
              <a:chOff x="0" y="0"/>
              <a:chExt cx="6858000" cy="2794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58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858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57200" y="419100"/>
              <a:ext cx="635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9EE8C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UI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57200" y="1250950"/>
              <a:ext cx="6350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app.py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72250" y="3333750"/>
            <a:ext cx="5143500" cy="2095500"/>
            <a:chOff x="0" y="0"/>
            <a:chExt cx="6858000" cy="2794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858000" cy="2794000"/>
              <a:chOff x="0" y="0"/>
              <a:chExt cx="6858000" cy="2794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858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858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57200" y="419100"/>
              <a:ext cx="635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9EE8C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LLM path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57200" y="1250950"/>
              <a:ext cx="6350000" cy="762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src/llm_client.py; src/extractor.py; src/schema.py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96750" y="3333750"/>
            <a:ext cx="5143500" cy="2095500"/>
            <a:chOff x="0" y="0"/>
            <a:chExt cx="6858000" cy="2794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858000" cy="2794000"/>
              <a:chOff x="0" y="0"/>
              <a:chExt cx="6858000" cy="2794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858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858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57200" y="419100"/>
              <a:ext cx="635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9EE8C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Prompt config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57200" y="1250950"/>
              <a:ext cx="6350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prompts/prompts.yaml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47750" y="6000750"/>
            <a:ext cx="5143500" cy="2095500"/>
            <a:chOff x="0" y="0"/>
            <a:chExt cx="6858000" cy="2794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6858000" cy="2794000"/>
              <a:chOff x="0" y="0"/>
              <a:chExt cx="6858000" cy="2794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858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6858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457200" y="419100"/>
              <a:ext cx="635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9EE8C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Local path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57200" y="1250950"/>
              <a:ext cx="6350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src/demo_extractor.py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572250" y="6000750"/>
            <a:ext cx="5143500" cy="2095500"/>
            <a:chOff x="0" y="0"/>
            <a:chExt cx="6858000" cy="27940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6858000" cy="2794000"/>
              <a:chOff x="0" y="0"/>
              <a:chExt cx="6858000" cy="2794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6858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6858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457200" y="419100"/>
              <a:ext cx="635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9EE8C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Quality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457200" y="1250950"/>
              <a:ext cx="6350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tests/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096750" y="6000750"/>
            <a:ext cx="5143500" cy="2095500"/>
            <a:chOff x="0" y="0"/>
            <a:chExt cx="6858000" cy="27940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6858000" cy="2794000"/>
              <a:chOff x="0" y="0"/>
              <a:chExt cx="6858000" cy="27940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6858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6858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457200" y="419100"/>
              <a:ext cx="6350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9EE8C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Exports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457200" y="1250950"/>
              <a:ext cx="6350000" cy="36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src/exporters.py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14375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40" b="true">
                <a:solidFill>
                  <a:srgbClr val="FF6B5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INPUT PROCESSING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295400"/>
            <a:ext cx="1428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7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Input processing starts with the notice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43000" y="3143250"/>
            <a:ext cx="14859000" cy="762000"/>
            <a:chOff x="0" y="0"/>
            <a:chExt cx="19812000" cy="1016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16000" cy="1016000"/>
              <a:chOff x="0" y="0"/>
              <a:chExt cx="1016000" cy="1016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16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1016000">
                    <a:moveTo>
                      <a:pt x="508000" y="0"/>
                    </a:moveTo>
                    <a:cubicBezTo>
                      <a:pt x="788561" y="0"/>
                      <a:pt x="1016000" y="227439"/>
                      <a:pt x="1016000" y="508000"/>
                    </a:cubicBezTo>
                    <a:cubicBezTo>
                      <a:pt x="1016000" y="788561"/>
                      <a:pt x="788561" y="1016000"/>
                      <a:pt x="508000" y="1016000"/>
                    </a:cubicBezTo>
                    <a:cubicBezTo>
                      <a:pt x="227439" y="1016000"/>
                      <a:pt x="0" y="788561"/>
                      <a:pt x="0" y="508000"/>
                    </a:cubicBezTo>
                    <a:cubicBezTo>
                      <a:pt x="0" y="227439"/>
                      <a:pt x="227439" y="0"/>
                      <a:pt x="5080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2286000" y="79375"/>
              <a:ext cx="4191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17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Paste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7366000" y="88900"/>
              <a:ext cx="12446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Circular, email, or forwarded notice text into the application.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43000" y="4524375"/>
            <a:ext cx="14859000" cy="762000"/>
            <a:chOff x="0" y="0"/>
            <a:chExt cx="19812000" cy="1016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16000" cy="1016000"/>
              <a:chOff x="0" y="0"/>
              <a:chExt cx="1016000" cy="1016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16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1016000">
                    <a:moveTo>
                      <a:pt x="508000" y="0"/>
                    </a:moveTo>
                    <a:cubicBezTo>
                      <a:pt x="788561" y="0"/>
                      <a:pt x="1016000" y="227439"/>
                      <a:pt x="1016000" y="508000"/>
                    </a:cubicBezTo>
                    <a:cubicBezTo>
                      <a:pt x="1016000" y="788561"/>
                      <a:pt x="788561" y="1016000"/>
                      <a:pt x="508000" y="1016000"/>
                    </a:cubicBezTo>
                    <a:cubicBezTo>
                      <a:pt x="227439" y="1016000"/>
                      <a:pt x="0" y="788561"/>
                      <a:pt x="0" y="508000"/>
                    </a:cubicBezTo>
                    <a:cubicBezTo>
                      <a:pt x="0" y="227439"/>
                      <a:pt x="227439" y="0"/>
                      <a:pt x="5080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2286000" y="79375"/>
              <a:ext cx="4191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17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Upload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7366000" y="88900"/>
              <a:ext cx="12446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A .txt file when the notice already exists as plain text.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3000" y="5905500"/>
            <a:ext cx="14859000" cy="762000"/>
            <a:chOff x="0" y="0"/>
            <a:chExt cx="19812000" cy="1016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16000" cy="1016000"/>
              <a:chOff x="0" y="0"/>
              <a:chExt cx="1016000" cy="1016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16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1016000">
                    <a:moveTo>
                      <a:pt x="508000" y="0"/>
                    </a:moveTo>
                    <a:cubicBezTo>
                      <a:pt x="788561" y="0"/>
                      <a:pt x="1016000" y="227439"/>
                      <a:pt x="1016000" y="508000"/>
                    </a:cubicBezTo>
                    <a:cubicBezTo>
                      <a:pt x="1016000" y="788561"/>
                      <a:pt x="788561" y="1016000"/>
                      <a:pt x="508000" y="1016000"/>
                    </a:cubicBezTo>
                    <a:cubicBezTo>
                      <a:pt x="227439" y="1016000"/>
                      <a:pt x="0" y="788561"/>
                      <a:pt x="0" y="508000"/>
                    </a:cubicBezTo>
                    <a:cubicBezTo>
                      <a:pt x="0" y="227439"/>
                      <a:pt x="227439" y="0"/>
                      <a:pt x="5080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2286000" y="79375"/>
              <a:ext cx="4191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17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Reference date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7366000" y="88900"/>
              <a:ext cx="12446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Interpret relative dates in context.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43000" y="7286625"/>
            <a:ext cx="14859000" cy="762000"/>
            <a:chOff x="0" y="0"/>
            <a:chExt cx="19812000" cy="1016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016000" cy="1016000"/>
              <a:chOff x="0" y="0"/>
              <a:chExt cx="1016000" cy="1016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16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1016000">
                    <a:moveTo>
                      <a:pt x="508000" y="0"/>
                    </a:moveTo>
                    <a:cubicBezTo>
                      <a:pt x="788561" y="0"/>
                      <a:pt x="1016000" y="227439"/>
                      <a:pt x="1016000" y="508000"/>
                    </a:cubicBezTo>
                    <a:cubicBezTo>
                      <a:pt x="1016000" y="788561"/>
                      <a:pt x="788561" y="1016000"/>
                      <a:pt x="508000" y="1016000"/>
                    </a:cubicBezTo>
                    <a:cubicBezTo>
                      <a:pt x="227439" y="1016000"/>
                      <a:pt x="0" y="788561"/>
                      <a:pt x="0" y="508000"/>
                    </a:cubicBezTo>
                    <a:cubicBezTo>
                      <a:pt x="0" y="227439"/>
                      <a:pt x="227439" y="0"/>
                      <a:pt x="508000" y="0"/>
                    </a:cubicBezTo>
                    <a:close/>
                  </a:path>
                </a:pathLst>
              </a:custGeom>
              <a:solidFill>
                <a:srgbClr val="FF6B57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2286000" y="79375"/>
              <a:ext cx="4191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1720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Process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7366000" y="88900"/>
              <a:ext cx="12446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Turn the notice into structured action data.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638175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40" b="true">
                <a:solidFill>
                  <a:srgbClr val="9EE8C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PROMPT ENGINEERING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200150"/>
            <a:ext cx="152400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F4F1E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Prompt engineering turns prose into a contract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3143250"/>
            <a:ext cx="5143500" cy="4953000"/>
            <a:chOff x="0" y="0"/>
            <a:chExt cx="6858000" cy="6604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858000" cy="6604000"/>
              <a:chOff x="0" y="0"/>
              <a:chExt cx="6858000" cy="6604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58000" cy="6604000"/>
              </a:xfrm>
              <a:custGeom>
                <a:avLst/>
                <a:gdLst/>
                <a:ahLst/>
                <a:cxnLst/>
                <a:rect r="r" b="b" t="t" l="l"/>
                <a:pathLst>
                  <a:path h="6604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858000" cy="664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508000" y="479425"/>
              <a:ext cx="584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40" b="true">
                  <a:solidFill>
                    <a:srgbClr val="9EE8C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PROMPT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08000" y="1358900"/>
              <a:ext cx="58420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F4F1E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One shared extraction prompt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08000" y="3009900"/>
              <a:ext cx="5842000" cy="1358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Guides the task and asks the model to extract only supported details.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Hallucination prevention is explicit.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72250" y="3143250"/>
            <a:ext cx="5143500" cy="4953000"/>
            <a:chOff x="0" y="0"/>
            <a:chExt cx="6858000" cy="6604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858000" cy="6604000"/>
              <a:chOff x="0" y="0"/>
              <a:chExt cx="6858000" cy="6604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858000" cy="6604000"/>
              </a:xfrm>
              <a:custGeom>
                <a:avLst/>
                <a:gdLst/>
                <a:ahLst/>
                <a:cxnLst/>
                <a:rect r="r" b="b" t="t" l="l"/>
                <a:pathLst>
                  <a:path h="6604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858000" cy="664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08000" y="479425"/>
              <a:ext cx="584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40" b="true">
                  <a:solidFill>
                    <a:srgbClr val="9EE8C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SCHEMA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08000" y="1349375"/>
              <a:ext cx="5842000" cy="548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65"/>
                </a:lnSpc>
              </a:pPr>
              <a:r>
                <a:rPr lang="en-US" sz="2475" b="true">
                  <a:solidFill>
                    <a:srgbClr val="F4F1E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Structured JSON response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08000" y="3009900"/>
              <a:ext cx="5842000" cy="227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Models student obligations, deadline versus event date, relative dates, and confidence information.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The schema defines what “complete” means.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096750" y="3143250"/>
            <a:ext cx="5143500" cy="4953000"/>
            <a:chOff x="0" y="0"/>
            <a:chExt cx="6858000" cy="6604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858000" cy="6604000"/>
              <a:chOff x="0" y="0"/>
              <a:chExt cx="6858000" cy="6604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858000" cy="6604000"/>
              </a:xfrm>
              <a:custGeom>
                <a:avLst/>
                <a:gdLst/>
                <a:ahLst/>
                <a:cxnLst/>
                <a:rect r="r" b="b" t="t" l="l"/>
                <a:pathLst>
                  <a:path h="6604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858000" cy="664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08000" y="479425"/>
              <a:ext cx="5842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40" b="true">
                  <a:solidFill>
                    <a:srgbClr val="9EE8C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REPAIR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08000" y="1349375"/>
              <a:ext cx="5842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F4F1E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Malformed output recovery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508000" y="3009900"/>
              <a:ext cx="5842000" cy="227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A repair prompt handles malformed or incomplete structured output before presentation.</a:t>
              </a: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Validation protects the student-facing result.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14375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40" b="true">
                <a:solidFill>
                  <a:srgbClr val="FF6B5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DESIGN · 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304925"/>
            <a:ext cx="8572500" cy="110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30"/>
              </a:lnSpc>
            </a:pPr>
            <a:r>
              <a:rPr lang="en-US" sz="6450" b="true">
                <a:solidFill>
                  <a:srgbClr val="17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Gemini Mode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2533650"/>
            <a:ext cx="123825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AI-assisted extraction through a structured provider contract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7750" y="3905250"/>
            <a:ext cx="16192500" cy="4572000"/>
            <a:chOff x="0" y="0"/>
            <a:chExt cx="21590000" cy="609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90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590000" cy="613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19250" y="4476750"/>
            <a:ext cx="13620750" cy="428625"/>
            <a:chOff x="0" y="0"/>
            <a:chExt cx="18161000" cy="5715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38100"/>
              <a:ext cx="533400" cy="533400"/>
              <a:chOff x="0" y="0"/>
              <a:chExt cx="533400" cy="533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334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533400">
                    <a:moveTo>
                      <a:pt x="266700" y="0"/>
                    </a:moveTo>
                    <a:cubicBezTo>
                      <a:pt x="413994" y="0"/>
                      <a:pt x="533400" y="119406"/>
                      <a:pt x="533400" y="266700"/>
                    </a:cubicBezTo>
                    <a:cubicBezTo>
                      <a:pt x="533400" y="413994"/>
                      <a:pt x="413994" y="533400"/>
                      <a:pt x="266700" y="533400"/>
                    </a:cubicBezTo>
                    <a:cubicBezTo>
                      <a:pt x="119406" y="533400"/>
                      <a:pt x="0" y="413994"/>
                      <a:pt x="0" y="266700"/>
                    </a:cubicBezTo>
                    <a:cubicBezTo>
                      <a:pt x="0" y="119406"/>
                      <a:pt x="119406" y="0"/>
                      <a:pt x="266700" y="0"/>
                    </a:cubicBezTo>
                    <a:close/>
                  </a:path>
                </a:pathLst>
              </a:custGeom>
              <a:solidFill>
                <a:srgbClr val="FF6B57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1651000" y="-38100"/>
              <a:ext cx="16510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Uses Google Gemini through the google-genai SDK.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19250" y="5476875"/>
            <a:ext cx="13620750" cy="428625"/>
            <a:chOff x="0" y="0"/>
            <a:chExt cx="18161000" cy="571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38100"/>
              <a:ext cx="533400" cy="533400"/>
              <a:chOff x="0" y="0"/>
              <a:chExt cx="533400" cy="533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334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533400">
                    <a:moveTo>
                      <a:pt x="266700" y="0"/>
                    </a:moveTo>
                    <a:cubicBezTo>
                      <a:pt x="413994" y="0"/>
                      <a:pt x="533400" y="119406"/>
                      <a:pt x="533400" y="266700"/>
                    </a:cubicBezTo>
                    <a:cubicBezTo>
                      <a:pt x="533400" y="413994"/>
                      <a:pt x="413994" y="533400"/>
                      <a:pt x="266700" y="533400"/>
                    </a:cubicBezTo>
                    <a:cubicBezTo>
                      <a:pt x="119406" y="533400"/>
                      <a:pt x="0" y="413994"/>
                      <a:pt x="0" y="266700"/>
                    </a:cubicBezTo>
                    <a:cubicBezTo>
                      <a:pt x="0" y="119406"/>
                      <a:pt x="119406" y="0"/>
                      <a:pt x="266700" y="0"/>
                    </a:cubicBezTo>
                    <a:close/>
                  </a:path>
                </a:pathLst>
              </a:custGeom>
              <a:solidFill>
                <a:srgbClr val="FF6B57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1651000" y="-38100"/>
              <a:ext cx="16510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GEMINI_API_KEY is read server-side from the environment or .env.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19250" y="6477000"/>
            <a:ext cx="13620750" cy="428625"/>
            <a:chOff x="0" y="0"/>
            <a:chExt cx="18161000" cy="5715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38100"/>
              <a:ext cx="533400" cy="533400"/>
              <a:chOff x="0" y="0"/>
              <a:chExt cx="533400" cy="533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334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533400">
                    <a:moveTo>
                      <a:pt x="266700" y="0"/>
                    </a:moveTo>
                    <a:cubicBezTo>
                      <a:pt x="413994" y="0"/>
                      <a:pt x="533400" y="119406"/>
                      <a:pt x="533400" y="266700"/>
                    </a:cubicBezTo>
                    <a:cubicBezTo>
                      <a:pt x="533400" y="413994"/>
                      <a:pt x="413994" y="533400"/>
                      <a:pt x="266700" y="533400"/>
                    </a:cubicBezTo>
                    <a:cubicBezTo>
                      <a:pt x="119406" y="533400"/>
                      <a:pt x="0" y="413994"/>
                      <a:pt x="0" y="266700"/>
                    </a:cubicBezTo>
                    <a:cubicBezTo>
                      <a:pt x="0" y="119406"/>
                      <a:pt x="119406" y="0"/>
                      <a:pt x="266700" y="0"/>
                    </a:cubicBezTo>
                    <a:close/>
                  </a:path>
                </a:pathLst>
              </a:custGeom>
              <a:solidFill>
                <a:srgbClr val="FF6B57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1651000" y="-38100"/>
              <a:ext cx="16510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Requests structured output and validates the result.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19250" y="7477125"/>
            <a:ext cx="13620750" cy="428625"/>
            <a:chOff x="0" y="0"/>
            <a:chExt cx="18161000" cy="5715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38100"/>
              <a:ext cx="533400" cy="533400"/>
              <a:chOff x="0" y="0"/>
              <a:chExt cx="533400" cy="533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5334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533400">
                    <a:moveTo>
                      <a:pt x="266700" y="0"/>
                    </a:moveTo>
                    <a:cubicBezTo>
                      <a:pt x="413994" y="0"/>
                      <a:pt x="533400" y="119406"/>
                      <a:pt x="533400" y="266700"/>
                    </a:cubicBezTo>
                    <a:cubicBezTo>
                      <a:pt x="533400" y="413994"/>
                      <a:pt x="413994" y="533400"/>
                      <a:pt x="266700" y="533400"/>
                    </a:cubicBezTo>
                    <a:cubicBezTo>
                      <a:pt x="119406" y="533400"/>
                      <a:pt x="0" y="413994"/>
                      <a:pt x="0" y="266700"/>
                    </a:cubicBezTo>
                    <a:cubicBezTo>
                      <a:pt x="0" y="119406"/>
                      <a:pt x="119406" y="0"/>
                      <a:pt x="266700" y="0"/>
                    </a:cubicBezTo>
                    <a:close/>
                  </a:path>
                </a:pathLst>
              </a:custGeom>
              <a:solidFill>
                <a:srgbClr val="FF6B57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1651000" y="-38100"/>
              <a:ext cx="16510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Gemini failures can trigger the local deterministic fallback.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714375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40" b="true">
                <a:solidFill>
                  <a:srgbClr val="FF6B5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DESIGN · 02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304925"/>
            <a:ext cx="8572500" cy="110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30"/>
              </a:lnSpc>
            </a:pPr>
            <a:r>
              <a:rPr lang="en-US" sz="6450" b="true">
                <a:solidFill>
                  <a:srgbClr val="17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 Mode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2533650"/>
            <a:ext cx="123825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A transparent local path when no API key is available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7750" y="3905250"/>
            <a:ext cx="16192500" cy="4572000"/>
            <a:chOff x="0" y="0"/>
            <a:chExt cx="21590000" cy="609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90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9EE8C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590000" cy="613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19250" y="4476750"/>
            <a:ext cx="13620750" cy="428625"/>
            <a:chOff x="0" y="0"/>
            <a:chExt cx="18161000" cy="5715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38100"/>
              <a:ext cx="533400" cy="533400"/>
              <a:chOff x="0" y="0"/>
              <a:chExt cx="533400" cy="533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334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533400">
                    <a:moveTo>
                      <a:pt x="266700" y="0"/>
                    </a:moveTo>
                    <a:cubicBezTo>
                      <a:pt x="413994" y="0"/>
                      <a:pt x="533400" y="119406"/>
                      <a:pt x="533400" y="266700"/>
                    </a:cubicBezTo>
                    <a:cubicBezTo>
                      <a:pt x="533400" y="413994"/>
                      <a:pt x="413994" y="533400"/>
                      <a:pt x="266700" y="533400"/>
                    </a:cubicBezTo>
                    <a:cubicBezTo>
                      <a:pt x="119406" y="533400"/>
                      <a:pt x="0" y="413994"/>
                      <a:pt x="0" y="266700"/>
                    </a:cubicBezTo>
                    <a:cubicBezTo>
                      <a:pt x="0" y="119406"/>
                      <a:pt x="119406" y="0"/>
                      <a:pt x="266700" y="0"/>
                    </a:cubicBez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1651000" y="-38100"/>
              <a:ext cx="16510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Works without a Gemini API key.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19250" y="5476875"/>
            <a:ext cx="13620750" cy="428625"/>
            <a:chOff x="0" y="0"/>
            <a:chExt cx="18161000" cy="5715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38100"/>
              <a:ext cx="533400" cy="533400"/>
              <a:chOff x="0" y="0"/>
              <a:chExt cx="533400" cy="533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334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533400">
                    <a:moveTo>
                      <a:pt x="266700" y="0"/>
                    </a:moveTo>
                    <a:cubicBezTo>
                      <a:pt x="413994" y="0"/>
                      <a:pt x="533400" y="119406"/>
                      <a:pt x="533400" y="266700"/>
                    </a:cubicBezTo>
                    <a:cubicBezTo>
                      <a:pt x="533400" y="413994"/>
                      <a:pt x="413994" y="533400"/>
                      <a:pt x="266700" y="533400"/>
                    </a:cubicBezTo>
                    <a:cubicBezTo>
                      <a:pt x="119406" y="533400"/>
                      <a:pt x="0" y="413994"/>
                      <a:pt x="0" y="266700"/>
                    </a:cubicBezTo>
                    <a:cubicBezTo>
                      <a:pt x="0" y="119406"/>
                      <a:pt x="119406" y="0"/>
                      <a:pt x="266700" y="0"/>
                    </a:cubicBez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1651000" y="-38100"/>
              <a:ext cx="16510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Uses deterministic Python rules to find likely actions, dates, priorities, fees, and documents.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19250" y="6477000"/>
            <a:ext cx="13620750" cy="428625"/>
            <a:chOff x="0" y="0"/>
            <a:chExt cx="18161000" cy="5715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38100"/>
              <a:ext cx="533400" cy="533400"/>
              <a:chOff x="0" y="0"/>
              <a:chExt cx="533400" cy="533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334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533400">
                    <a:moveTo>
                      <a:pt x="266700" y="0"/>
                    </a:moveTo>
                    <a:cubicBezTo>
                      <a:pt x="413994" y="0"/>
                      <a:pt x="533400" y="119406"/>
                      <a:pt x="533400" y="266700"/>
                    </a:cubicBezTo>
                    <a:cubicBezTo>
                      <a:pt x="533400" y="413994"/>
                      <a:pt x="413994" y="533400"/>
                      <a:pt x="266700" y="533400"/>
                    </a:cubicBezTo>
                    <a:cubicBezTo>
                      <a:pt x="119406" y="533400"/>
                      <a:pt x="0" y="413994"/>
                      <a:pt x="0" y="266700"/>
                    </a:cubicBezTo>
                    <a:cubicBezTo>
                      <a:pt x="0" y="119406"/>
                      <a:pt x="119406" y="0"/>
                      <a:pt x="266700" y="0"/>
                    </a:cubicBez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1651000" y="-38100"/>
              <a:ext cx="16510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Does not call or pretend to be an LLM.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19250" y="7477125"/>
            <a:ext cx="13620750" cy="428625"/>
            <a:chOff x="0" y="0"/>
            <a:chExt cx="18161000" cy="5715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38100"/>
              <a:ext cx="533400" cy="533400"/>
              <a:chOff x="0" y="0"/>
              <a:chExt cx="533400" cy="533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533400" cy="533400"/>
              </a:xfrm>
              <a:custGeom>
                <a:avLst/>
                <a:gdLst/>
                <a:ahLst/>
                <a:cxnLst/>
                <a:rect r="r" b="b" t="t" l="l"/>
                <a:pathLst>
                  <a:path h="533400" w="533400">
                    <a:moveTo>
                      <a:pt x="266700" y="0"/>
                    </a:moveTo>
                    <a:cubicBezTo>
                      <a:pt x="413994" y="0"/>
                      <a:pt x="533400" y="119406"/>
                      <a:pt x="533400" y="266700"/>
                    </a:cubicBezTo>
                    <a:cubicBezTo>
                      <a:pt x="533400" y="413994"/>
                      <a:pt x="413994" y="533400"/>
                      <a:pt x="266700" y="533400"/>
                    </a:cubicBezTo>
                    <a:cubicBezTo>
                      <a:pt x="119406" y="533400"/>
                      <a:pt x="0" y="413994"/>
                      <a:pt x="0" y="266700"/>
                    </a:cubicBezTo>
                    <a:cubicBezTo>
                      <a:pt x="0" y="119406"/>
                      <a:pt x="119406" y="0"/>
                      <a:pt x="266700" y="0"/>
                    </a:cubicBez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1651000" y="-38100"/>
              <a:ext cx="16510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Clearly labeled as Demo Mode so users know how the result was produced.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90550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40" b="true">
                <a:solidFill>
                  <a:srgbClr val="9EE8C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 CONTRACT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152525"/>
            <a:ext cx="95250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F4F1E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 Structure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1914525"/>
            <a:ext cx="12382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AAB3C5"/>
                </a:solidFill>
                <a:latin typeface="Open Sans"/>
                <a:ea typeface="Open Sans"/>
                <a:cs typeface="Open Sans"/>
                <a:sym typeface="Open Sans"/>
              </a:rPr>
              <a:t>Every notice becomes a consistent, readable handoff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7750" y="3143250"/>
            <a:ext cx="7810500" cy="1000125"/>
            <a:chOff x="0" y="0"/>
            <a:chExt cx="10414000" cy="13335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414000" cy="1333500"/>
              <a:chOff x="0" y="0"/>
              <a:chExt cx="10414000" cy="13335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414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04140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444500" y="279400"/>
              <a:ext cx="4191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9EE8C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Action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953000" y="314325"/>
              <a:ext cx="4699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What the student must do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29750" y="3143250"/>
            <a:ext cx="7810500" cy="1000125"/>
            <a:chOff x="0" y="0"/>
            <a:chExt cx="10414000" cy="13335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0414000" cy="1333500"/>
              <a:chOff x="0" y="0"/>
              <a:chExt cx="10414000" cy="13335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414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4140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44500" y="279400"/>
              <a:ext cx="4191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9EE8C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Deadline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953000" y="314325"/>
              <a:ext cx="4699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When the action is due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47750" y="4572000"/>
            <a:ext cx="7810500" cy="1000125"/>
            <a:chOff x="0" y="0"/>
            <a:chExt cx="10414000" cy="13335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0414000" cy="1333500"/>
              <a:chOff x="0" y="0"/>
              <a:chExt cx="10414000" cy="13335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414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04140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44500" y="279400"/>
              <a:ext cx="4191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9EE8C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Event date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953000" y="314325"/>
              <a:ext cx="4699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Date of the related event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29750" y="4572000"/>
            <a:ext cx="7810500" cy="1000125"/>
            <a:chOff x="0" y="0"/>
            <a:chExt cx="10414000" cy="13335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414000" cy="1333500"/>
              <a:chOff x="0" y="0"/>
              <a:chExt cx="10414000" cy="13335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414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04140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444500" y="279400"/>
              <a:ext cx="4191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9EE8C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Time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4953000" y="314325"/>
              <a:ext cx="4699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Relevant time or window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47750" y="6000750"/>
            <a:ext cx="7810500" cy="1000125"/>
            <a:chOff x="0" y="0"/>
            <a:chExt cx="10414000" cy="13335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0414000" cy="1333500"/>
              <a:chOff x="0" y="0"/>
              <a:chExt cx="10414000" cy="13335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0414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104140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444500" y="279400"/>
              <a:ext cx="4191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9EE8C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Priority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4953000" y="314325"/>
              <a:ext cx="4699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Relative urgency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29750" y="6000750"/>
            <a:ext cx="7810500" cy="1000125"/>
            <a:chOff x="0" y="0"/>
            <a:chExt cx="10414000" cy="13335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0414000" cy="1333500"/>
              <a:chOff x="0" y="0"/>
              <a:chExt cx="10414000" cy="13335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0414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104140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444500" y="279400"/>
              <a:ext cx="4191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9EE8C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Required documents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4953000" y="314325"/>
              <a:ext cx="4699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Files, forms, or certificates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47750" y="7429500"/>
            <a:ext cx="7810500" cy="1000125"/>
            <a:chOff x="0" y="0"/>
            <a:chExt cx="10414000" cy="1333500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10414000" cy="1333500"/>
              <a:chOff x="0" y="0"/>
              <a:chExt cx="10414000" cy="13335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0414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104140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444500" y="279400"/>
              <a:ext cx="4191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9EE8C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Affected students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4953000" y="314325"/>
              <a:ext cx="4699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Who needs to act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429750" y="7429500"/>
            <a:ext cx="7810500" cy="1000125"/>
            <a:chOff x="0" y="0"/>
            <a:chExt cx="10414000" cy="1333500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10414000" cy="1333500"/>
              <a:chOff x="0" y="0"/>
              <a:chExt cx="10414000" cy="13335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04140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104140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444500" y="279400"/>
              <a:ext cx="4191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9EE8C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Confidence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4953000" y="314325"/>
              <a:ext cx="4699000" cy="376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How certain the extraction is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638175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40" b="true">
                <a:solidFill>
                  <a:srgbClr val="FF6B5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RELIABILITY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200150"/>
            <a:ext cx="1428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7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Validation &amp; Error Handling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2057400"/>
            <a:ext cx="13335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Failures become visible, testable states—not silent surprises</a:t>
            </a:r>
          </a:p>
        </p:txBody>
      </p:sp>
      <p:sp>
        <p:nvSpPr>
          <p:cNvPr name="AutoShape 5" id="5"/>
          <p:cNvSpPr/>
          <p:nvPr/>
        </p:nvSpPr>
        <p:spPr>
          <a:xfrm>
            <a:off x="2000250" y="3952875"/>
            <a:ext cx="0" cy="3952875"/>
          </a:xfrm>
          <a:prstGeom prst="line">
            <a:avLst/>
          </a:prstGeom>
          <a:ln cap="rnd" w="47625">
            <a:solidFill>
              <a:srgbClr val="FF6B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476375" y="3714750"/>
            <a:ext cx="13858875" cy="1047750"/>
            <a:chOff x="0" y="0"/>
            <a:chExt cx="18478500" cy="1397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397000" cy="1397000"/>
              <a:chOff x="0" y="0"/>
              <a:chExt cx="1397000" cy="1397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39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397000">
                    <a:moveTo>
                      <a:pt x="698500" y="0"/>
                    </a:moveTo>
                    <a:cubicBezTo>
                      <a:pt x="1084271" y="0"/>
                      <a:pt x="1397000" y="312729"/>
                      <a:pt x="1397000" y="698500"/>
                    </a:cubicBezTo>
                    <a:cubicBezTo>
                      <a:pt x="1397000" y="1084271"/>
                      <a:pt x="1084271" y="1397000"/>
                      <a:pt x="698500" y="1397000"/>
                    </a:cubicBezTo>
                    <a:cubicBezTo>
                      <a:pt x="312729" y="1397000"/>
                      <a:pt x="0" y="1084271"/>
                      <a:pt x="0" y="698500"/>
                    </a:cubicBezTo>
                    <a:cubicBezTo>
                      <a:pt x="0" y="312729"/>
                      <a:pt x="312729" y="0"/>
                      <a:pt x="6985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2603500" y="215900"/>
              <a:ext cx="1587500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JSON parsing detects malformed responses.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76375" y="4905375"/>
            <a:ext cx="13858875" cy="1047750"/>
            <a:chOff x="0" y="0"/>
            <a:chExt cx="18478500" cy="1397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397000" cy="1397000"/>
              <a:chOff x="0" y="0"/>
              <a:chExt cx="1397000" cy="1397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39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397000">
                    <a:moveTo>
                      <a:pt x="698500" y="0"/>
                    </a:moveTo>
                    <a:cubicBezTo>
                      <a:pt x="1084271" y="0"/>
                      <a:pt x="1397000" y="312729"/>
                      <a:pt x="1397000" y="698500"/>
                    </a:cubicBezTo>
                    <a:cubicBezTo>
                      <a:pt x="1397000" y="1084271"/>
                      <a:pt x="1084271" y="1397000"/>
                      <a:pt x="698500" y="1397000"/>
                    </a:cubicBezTo>
                    <a:cubicBezTo>
                      <a:pt x="312729" y="1397000"/>
                      <a:pt x="0" y="1084271"/>
                      <a:pt x="0" y="698500"/>
                    </a:cubicBezTo>
                    <a:cubicBezTo>
                      <a:pt x="0" y="312729"/>
                      <a:pt x="312729" y="0"/>
                      <a:pt x="6985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2603500" y="215900"/>
              <a:ext cx="1587500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Pydantic validates the expected schema.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76375" y="6096000"/>
            <a:ext cx="13858875" cy="1047750"/>
            <a:chOff x="0" y="0"/>
            <a:chExt cx="18478500" cy="1397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397000" cy="1397000"/>
              <a:chOff x="0" y="0"/>
              <a:chExt cx="1397000" cy="1397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39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397000">
                    <a:moveTo>
                      <a:pt x="698500" y="0"/>
                    </a:moveTo>
                    <a:cubicBezTo>
                      <a:pt x="1084271" y="0"/>
                      <a:pt x="1397000" y="312729"/>
                      <a:pt x="1397000" y="698500"/>
                    </a:cubicBezTo>
                    <a:cubicBezTo>
                      <a:pt x="1397000" y="1084271"/>
                      <a:pt x="1084271" y="1397000"/>
                      <a:pt x="698500" y="1397000"/>
                    </a:cubicBezTo>
                    <a:cubicBezTo>
                      <a:pt x="312729" y="1397000"/>
                      <a:pt x="0" y="1084271"/>
                      <a:pt x="0" y="698500"/>
                    </a:cubicBezTo>
                    <a:cubicBezTo>
                      <a:pt x="0" y="312729"/>
                      <a:pt x="312729" y="0"/>
                      <a:pt x="6985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2603500" y="215900"/>
              <a:ext cx="1587500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Invalid responses can enter the repair flow.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76375" y="7286625"/>
            <a:ext cx="13858875" cy="1047750"/>
            <a:chOff x="0" y="0"/>
            <a:chExt cx="18478500" cy="1397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397000" cy="1397000"/>
              <a:chOff x="0" y="0"/>
              <a:chExt cx="1397000" cy="1397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39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397000">
                    <a:moveTo>
                      <a:pt x="698500" y="0"/>
                    </a:moveTo>
                    <a:cubicBezTo>
                      <a:pt x="1084271" y="0"/>
                      <a:pt x="1397000" y="312729"/>
                      <a:pt x="1397000" y="698500"/>
                    </a:cubicBezTo>
                    <a:cubicBezTo>
                      <a:pt x="1397000" y="1084271"/>
                      <a:pt x="1084271" y="1397000"/>
                      <a:pt x="698500" y="1397000"/>
                    </a:cubicBezTo>
                    <a:cubicBezTo>
                      <a:pt x="312729" y="1397000"/>
                      <a:pt x="0" y="1084271"/>
                      <a:pt x="0" y="698500"/>
                    </a:cubicBezTo>
                    <a:cubicBezTo>
                      <a:pt x="0" y="312729"/>
                      <a:pt x="312729" y="0"/>
                      <a:pt x="698500" y="0"/>
                    </a:cubicBezTo>
                    <a:close/>
                  </a:path>
                </a:pathLst>
              </a:custGeom>
              <a:solidFill>
                <a:srgbClr val="FF6B57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2603500" y="215900"/>
              <a:ext cx="1587500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Gemini failures can trigger deterministic local fallback.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638175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40" b="true">
                <a:solidFill>
                  <a:srgbClr val="9EE8C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QUALITY ASSURANCE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247775"/>
            <a:ext cx="666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F4F1E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2105025"/>
            <a:ext cx="13335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AAB3C5"/>
                </a:solidFill>
                <a:latin typeface="Open Sans"/>
                <a:ea typeface="Open Sans"/>
                <a:cs typeface="Open Sans"/>
                <a:sym typeface="Open Sans"/>
              </a:rPr>
              <a:t>The core behaviors remain verifiable without external services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7750" y="3238500"/>
            <a:ext cx="16192500" cy="5334000"/>
            <a:chOff x="0" y="0"/>
            <a:chExt cx="21590000" cy="711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90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172033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590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28750" y="3714750"/>
            <a:ext cx="14382750" cy="590550"/>
            <a:chOff x="0" y="0"/>
            <a:chExt cx="19177000" cy="7874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87400" cy="787400"/>
              <a:chOff x="0" y="0"/>
              <a:chExt cx="787400" cy="787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87400" cy="787400"/>
              </a:xfrm>
              <a:custGeom>
                <a:avLst/>
                <a:gdLst/>
                <a:ahLst/>
                <a:cxnLst/>
                <a:rect r="r" b="b" t="t" l="l"/>
                <a:pathLst>
                  <a:path h="787400" w="787400">
                    <a:moveTo>
                      <a:pt x="368710" y="0"/>
                    </a:moveTo>
                    <a:lnTo>
                      <a:pt x="418690" y="0"/>
                    </a:lnTo>
                    <a:cubicBezTo>
                      <a:pt x="516478" y="0"/>
                      <a:pt x="610261" y="38846"/>
                      <a:pt x="679407" y="107993"/>
                    </a:cubicBezTo>
                    <a:cubicBezTo>
                      <a:pt x="748554" y="177139"/>
                      <a:pt x="787400" y="270922"/>
                      <a:pt x="787400" y="368710"/>
                    </a:cubicBezTo>
                    <a:lnTo>
                      <a:pt x="787400" y="418690"/>
                    </a:lnTo>
                    <a:cubicBezTo>
                      <a:pt x="787400" y="516478"/>
                      <a:pt x="748554" y="610261"/>
                      <a:pt x="679407" y="679407"/>
                    </a:cubicBezTo>
                    <a:cubicBezTo>
                      <a:pt x="610261" y="748554"/>
                      <a:pt x="516478" y="787400"/>
                      <a:pt x="418690" y="787400"/>
                    </a:cubicBezTo>
                    <a:lnTo>
                      <a:pt x="368710" y="787400"/>
                    </a:lnTo>
                    <a:cubicBezTo>
                      <a:pt x="270922" y="787400"/>
                      <a:pt x="177139" y="748554"/>
                      <a:pt x="107993" y="679407"/>
                    </a:cubicBezTo>
                    <a:cubicBezTo>
                      <a:pt x="38846" y="610261"/>
                      <a:pt x="0" y="516478"/>
                      <a:pt x="0" y="418690"/>
                    </a:cubicBezTo>
                    <a:lnTo>
                      <a:pt x="0" y="368710"/>
                    </a:lnTo>
                    <a:cubicBezTo>
                      <a:pt x="0" y="270922"/>
                      <a:pt x="38846" y="177139"/>
                      <a:pt x="107993" y="107993"/>
                    </a:cubicBezTo>
                    <a:cubicBezTo>
                      <a:pt x="177139" y="38846"/>
                      <a:pt x="270922" y="0"/>
                      <a:pt x="36871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787400" cy="768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true">
                    <a:solidFill>
                      <a:srgbClr val="0B122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✓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397000" y="25400"/>
              <a:ext cx="17780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Provider calls are mocked in tests.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28750" y="4714875"/>
            <a:ext cx="14382750" cy="590550"/>
            <a:chOff x="0" y="0"/>
            <a:chExt cx="19177000" cy="7874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787400" cy="787400"/>
              <a:chOff x="0" y="0"/>
              <a:chExt cx="787400" cy="787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87400" cy="787400"/>
              </a:xfrm>
              <a:custGeom>
                <a:avLst/>
                <a:gdLst/>
                <a:ahLst/>
                <a:cxnLst/>
                <a:rect r="r" b="b" t="t" l="l"/>
                <a:pathLst>
                  <a:path h="787400" w="787400">
                    <a:moveTo>
                      <a:pt x="368710" y="0"/>
                    </a:moveTo>
                    <a:lnTo>
                      <a:pt x="418690" y="0"/>
                    </a:lnTo>
                    <a:cubicBezTo>
                      <a:pt x="516478" y="0"/>
                      <a:pt x="610261" y="38846"/>
                      <a:pt x="679407" y="107993"/>
                    </a:cubicBezTo>
                    <a:cubicBezTo>
                      <a:pt x="748554" y="177139"/>
                      <a:pt x="787400" y="270922"/>
                      <a:pt x="787400" y="368710"/>
                    </a:cubicBezTo>
                    <a:lnTo>
                      <a:pt x="787400" y="418690"/>
                    </a:lnTo>
                    <a:cubicBezTo>
                      <a:pt x="787400" y="516478"/>
                      <a:pt x="748554" y="610261"/>
                      <a:pt x="679407" y="679407"/>
                    </a:cubicBezTo>
                    <a:cubicBezTo>
                      <a:pt x="610261" y="748554"/>
                      <a:pt x="516478" y="787400"/>
                      <a:pt x="418690" y="787400"/>
                    </a:cubicBezTo>
                    <a:lnTo>
                      <a:pt x="368710" y="787400"/>
                    </a:lnTo>
                    <a:cubicBezTo>
                      <a:pt x="270922" y="787400"/>
                      <a:pt x="177139" y="748554"/>
                      <a:pt x="107993" y="679407"/>
                    </a:cubicBezTo>
                    <a:cubicBezTo>
                      <a:pt x="38846" y="610261"/>
                      <a:pt x="0" y="516478"/>
                      <a:pt x="0" y="418690"/>
                    </a:cubicBezTo>
                    <a:lnTo>
                      <a:pt x="0" y="368710"/>
                    </a:lnTo>
                    <a:cubicBezTo>
                      <a:pt x="0" y="270922"/>
                      <a:pt x="38846" y="177139"/>
                      <a:pt x="107993" y="107993"/>
                    </a:cubicBezTo>
                    <a:cubicBezTo>
                      <a:pt x="177139" y="38846"/>
                      <a:pt x="270922" y="0"/>
                      <a:pt x="36871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19050"/>
                <a:ext cx="787400" cy="768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true">
                    <a:solidFill>
                      <a:srgbClr val="0B122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✓</a:t>
                </a: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397000" y="25400"/>
              <a:ext cx="17780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Parser and structured-response behavior are tested.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28750" y="5715000"/>
            <a:ext cx="14382750" cy="590550"/>
            <a:chOff x="0" y="0"/>
            <a:chExt cx="19177000" cy="7874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87400" cy="787400"/>
              <a:chOff x="0" y="0"/>
              <a:chExt cx="787400" cy="7874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87400" cy="787400"/>
              </a:xfrm>
              <a:custGeom>
                <a:avLst/>
                <a:gdLst/>
                <a:ahLst/>
                <a:cxnLst/>
                <a:rect r="r" b="b" t="t" l="l"/>
                <a:pathLst>
                  <a:path h="787400" w="787400">
                    <a:moveTo>
                      <a:pt x="368710" y="0"/>
                    </a:moveTo>
                    <a:lnTo>
                      <a:pt x="418690" y="0"/>
                    </a:lnTo>
                    <a:cubicBezTo>
                      <a:pt x="516478" y="0"/>
                      <a:pt x="610261" y="38846"/>
                      <a:pt x="679407" y="107993"/>
                    </a:cubicBezTo>
                    <a:cubicBezTo>
                      <a:pt x="748554" y="177139"/>
                      <a:pt x="787400" y="270922"/>
                      <a:pt x="787400" y="368710"/>
                    </a:cubicBezTo>
                    <a:lnTo>
                      <a:pt x="787400" y="418690"/>
                    </a:lnTo>
                    <a:cubicBezTo>
                      <a:pt x="787400" y="516478"/>
                      <a:pt x="748554" y="610261"/>
                      <a:pt x="679407" y="679407"/>
                    </a:cubicBezTo>
                    <a:cubicBezTo>
                      <a:pt x="610261" y="748554"/>
                      <a:pt x="516478" y="787400"/>
                      <a:pt x="418690" y="787400"/>
                    </a:cubicBezTo>
                    <a:lnTo>
                      <a:pt x="368710" y="787400"/>
                    </a:lnTo>
                    <a:cubicBezTo>
                      <a:pt x="270922" y="787400"/>
                      <a:pt x="177139" y="748554"/>
                      <a:pt x="107993" y="679407"/>
                    </a:cubicBezTo>
                    <a:cubicBezTo>
                      <a:pt x="38846" y="610261"/>
                      <a:pt x="0" y="516478"/>
                      <a:pt x="0" y="418690"/>
                    </a:cubicBezTo>
                    <a:lnTo>
                      <a:pt x="0" y="368710"/>
                    </a:lnTo>
                    <a:cubicBezTo>
                      <a:pt x="0" y="270922"/>
                      <a:pt x="38846" y="177139"/>
                      <a:pt x="107993" y="107993"/>
                    </a:cubicBezTo>
                    <a:cubicBezTo>
                      <a:pt x="177139" y="38846"/>
                      <a:pt x="270922" y="0"/>
                      <a:pt x="36871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787400" cy="768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true">
                    <a:solidFill>
                      <a:srgbClr val="0B122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✓</a:t>
                </a: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397000" y="25400"/>
              <a:ext cx="17780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Fallback and Demo Mode behavior are tested.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28750" y="6715125"/>
            <a:ext cx="14382750" cy="590550"/>
            <a:chOff x="0" y="0"/>
            <a:chExt cx="19177000" cy="7874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787400" cy="787400"/>
              <a:chOff x="0" y="0"/>
              <a:chExt cx="787400" cy="7874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787400" cy="787400"/>
              </a:xfrm>
              <a:custGeom>
                <a:avLst/>
                <a:gdLst/>
                <a:ahLst/>
                <a:cxnLst/>
                <a:rect r="r" b="b" t="t" l="l"/>
                <a:pathLst>
                  <a:path h="787400" w="787400">
                    <a:moveTo>
                      <a:pt x="368710" y="0"/>
                    </a:moveTo>
                    <a:lnTo>
                      <a:pt x="418690" y="0"/>
                    </a:lnTo>
                    <a:cubicBezTo>
                      <a:pt x="516478" y="0"/>
                      <a:pt x="610261" y="38846"/>
                      <a:pt x="679407" y="107993"/>
                    </a:cubicBezTo>
                    <a:cubicBezTo>
                      <a:pt x="748554" y="177139"/>
                      <a:pt x="787400" y="270922"/>
                      <a:pt x="787400" y="368710"/>
                    </a:cubicBezTo>
                    <a:lnTo>
                      <a:pt x="787400" y="418690"/>
                    </a:lnTo>
                    <a:cubicBezTo>
                      <a:pt x="787400" y="516478"/>
                      <a:pt x="748554" y="610261"/>
                      <a:pt x="679407" y="679407"/>
                    </a:cubicBezTo>
                    <a:cubicBezTo>
                      <a:pt x="610261" y="748554"/>
                      <a:pt x="516478" y="787400"/>
                      <a:pt x="418690" y="787400"/>
                    </a:cubicBezTo>
                    <a:lnTo>
                      <a:pt x="368710" y="787400"/>
                    </a:lnTo>
                    <a:cubicBezTo>
                      <a:pt x="270922" y="787400"/>
                      <a:pt x="177139" y="748554"/>
                      <a:pt x="107993" y="679407"/>
                    </a:cubicBezTo>
                    <a:cubicBezTo>
                      <a:pt x="38846" y="610261"/>
                      <a:pt x="0" y="516478"/>
                      <a:pt x="0" y="418690"/>
                    </a:cubicBezTo>
                    <a:lnTo>
                      <a:pt x="0" y="368710"/>
                    </a:lnTo>
                    <a:cubicBezTo>
                      <a:pt x="0" y="270922"/>
                      <a:pt x="38846" y="177139"/>
                      <a:pt x="107993" y="107993"/>
                    </a:cubicBezTo>
                    <a:cubicBezTo>
                      <a:pt x="177139" y="38846"/>
                      <a:pt x="270922" y="0"/>
                      <a:pt x="36871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19050"/>
                <a:ext cx="787400" cy="768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true">
                    <a:solidFill>
                      <a:srgbClr val="0B122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✓</a:t>
                </a: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1397000" y="25400"/>
              <a:ext cx="17780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UI and export functionality are covered.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28750" y="7715250"/>
            <a:ext cx="14382750" cy="590550"/>
            <a:chOff x="0" y="0"/>
            <a:chExt cx="19177000" cy="7874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787400" cy="787400"/>
              <a:chOff x="0" y="0"/>
              <a:chExt cx="787400" cy="7874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787400" cy="787400"/>
              </a:xfrm>
              <a:custGeom>
                <a:avLst/>
                <a:gdLst/>
                <a:ahLst/>
                <a:cxnLst/>
                <a:rect r="r" b="b" t="t" l="l"/>
                <a:pathLst>
                  <a:path h="787400" w="787400">
                    <a:moveTo>
                      <a:pt x="368710" y="0"/>
                    </a:moveTo>
                    <a:lnTo>
                      <a:pt x="418690" y="0"/>
                    </a:lnTo>
                    <a:cubicBezTo>
                      <a:pt x="516478" y="0"/>
                      <a:pt x="610261" y="38846"/>
                      <a:pt x="679407" y="107993"/>
                    </a:cubicBezTo>
                    <a:cubicBezTo>
                      <a:pt x="748554" y="177139"/>
                      <a:pt x="787400" y="270922"/>
                      <a:pt x="787400" y="368710"/>
                    </a:cubicBezTo>
                    <a:lnTo>
                      <a:pt x="787400" y="418690"/>
                    </a:lnTo>
                    <a:cubicBezTo>
                      <a:pt x="787400" y="516478"/>
                      <a:pt x="748554" y="610261"/>
                      <a:pt x="679407" y="679407"/>
                    </a:cubicBezTo>
                    <a:cubicBezTo>
                      <a:pt x="610261" y="748554"/>
                      <a:pt x="516478" y="787400"/>
                      <a:pt x="418690" y="787400"/>
                    </a:cubicBezTo>
                    <a:lnTo>
                      <a:pt x="368710" y="787400"/>
                    </a:lnTo>
                    <a:cubicBezTo>
                      <a:pt x="270922" y="787400"/>
                      <a:pt x="177139" y="748554"/>
                      <a:pt x="107993" y="679407"/>
                    </a:cubicBezTo>
                    <a:cubicBezTo>
                      <a:pt x="38846" y="610261"/>
                      <a:pt x="0" y="516478"/>
                      <a:pt x="0" y="418690"/>
                    </a:cubicBezTo>
                    <a:lnTo>
                      <a:pt x="0" y="368710"/>
                    </a:lnTo>
                    <a:cubicBezTo>
                      <a:pt x="0" y="270922"/>
                      <a:pt x="38846" y="177139"/>
                      <a:pt x="107993" y="107993"/>
                    </a:cubicBezTo>
                    <a:cubicBezTo>
                      <a:pt x="177139" y="38846"/>
                      <a:pt x="270922" y="0"/>
                      <a:pt x="36871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787400" cy="768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true">
                    <a:solidFill>
                      <a:srgbClr val="0B122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✓</a:t>
                </a: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397000" y="25400"/>
              <a:ext cx="17780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Tests do not require a real Gemini API key.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90550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40" b="true">
                <a:solidFill>
                  <a:srgbClr val="FF6B5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EXAMPLE RESULT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152525"/>
            <a:ext cx="1428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7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Examination Notice Scenario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1962150"/>
            <a:ext cx="13335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A notice becomes four concrete checks for the student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7750" y="3286125"/>
            <a:ext cx="16192500" cy="1095375"/>
            <a:chOff x="0" y="0"/>
            <a:chExt cx="21590000" cy="14605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1590000" cy="1460500"/>
              <a:chOff x="0" y="0"/>
              <a:chExt cx="21590000" cy="14605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590000" cy="1460500"/>
              </a:xfrm>
              <a:custGeom>
                <a:avLst/>
                <a:gdLst/>
                <a:ahLst/>
                <a:cxnLst/>
                <a:rect r="r" b="b" t="t" l="l"/>
                <a:pathLst>
                  <a:path h="1460500" w="21590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1460500"/>
                    </a:lnTo>
                    <a:lnTo>
                      <a:pt x="0" y="1460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1590000" cy="1498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44500" y="279400"/>
              <a:ext cx="889000" cy="889000"/>
              <a:chOff x="0" y="0"/>
              <a:chExt cx="889000" cy="889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89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889000">
                    <a:moveTo>
                      <a:pt x="326571" y="0"/>
                    </a:moveTo>
                    <a:lnTo>
                      <a:pt x="562429" y="0"/>
                    </a:lnTo>
                    <a:cubicBezTo>
                      <a:pt x="649041" y="0"/>
                      <a:pt x="732105" y="34407"/>
                      <a:pt x="793349" y="95651"/>
                    </a:cubicBezTo>
                    <a:cubicBezTo>
                      <a:pt x="854593" y="156895"/>
                      <a:pt x="889000" y="239959"/>
                      <a:pt x="889000" y="326571"/>
                    </a:cubicBezTo>
                    <a:lnTo>
                      <a:pt x="889000" y="562429"/>
                    </a:lnTo>
                    <a:cubicBezTo>
                      <a:pt x="889000" y="649041"/>
                      <a:pt x="854593" y="732105"/>
                      <a:pt x="793349" y="793349"/>
                    </a:cubicBezTo>
                    <a:cubicBezTo>
                      <a:pt x="732105" y="854593"/>
                      <a:pt x="649041" y="889000"/>
                      <a:pt x="562429" y="889000"/>
                    </a:cubicBezTo>
                    <a:lnTo>
                      <a:pt x="326571" y="889000"/>
                    </a:lnTo>
                    <a:cubicBezTo>
                      <a:pt x="239959" y="889000"/>
                      <a:pt x="156895" y="854593"/>
                      <a:pt x="95651" y="793349"/>
                    </a:cubicBezTo>
                    <a:cubicBezTo>
                      <a:pt x="34407" y="732105"/>
                      <a:pt x="0" y="649041"/>
                      <a:pt x="0" y="562429"/>
                    </a:cubicBezTo>
                    <a:lnTo>
                      <a:pt x="0" y="326571"/>
                    </a:lnTo>
                    <a:cubicBezTo>
                      <a:pt x="0" y="239959"/>
                      <a:pt x="34407" y="156895"/>
                      <a:pt x="95651" y="95651"/>
                    </a:cubicBezTo>
                    <a:cubicBezTo>
                      <a:pt x="156895" y="34407"/>
                      <a:pt x="239959" y="0"/>
                      <a:pt x="326571" y="0"/>
                    </a:cubicBezTo>
                    <a:close/>
                  </a:path>
                </a:pathLst>
              </a:custGeom>
              <a:solidFill>
                <a:srgbClr val="FF6B5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89000" cy="869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1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159000" y="406400"/>
              <a:ext cx="18034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Fill the examination form on the ERP portal by Friday, 9 October 2026.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7750" y="4667250"/>
            <a:ext cx="16192500" cy="1095375"/>
            <a:chOff x="0" y="0"/>
            <a:chExt cx="21590000" cy="14605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1590000" cy="1460500"/>
              <a:chOff x="0" y="0"/>
              <a:chExt cx="21590000" cy="14605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1590000" cy="1460500"/>
              </a:xfrm>
              <a:custGeom>
                <a:avLst/>
                <a:gdLst/>
                <a:ahLst/>
                <a:cxnLst/>
                <a:rect r="r" b="b" t="t" l="l"/>
                <a:pathLst>
                  <a:path h="1460500" w="21590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1460500"/>
                    </a:lnTo>
                    <a:lnTo>
                      <a:pt x="0" y="1460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1590000" cy="1498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444500" y="279400"/>
              <a:ext cx="889000" cy="889000"/>
              <a:chOff x="0" y="0"/>
              <a:chExt cx="889000" cy="889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89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889000">
                    <a:moveTo>
                      <a:pt x="326571" y="0"/>
                    </a:moveTo>
                    <a:lnTo>
                      <a:pt x="562429" y="0"/>
                    </a:lnTo>
                    <a:cubicBezTo>
                      <a:pt x="649041" y="0"/>
                      <a:pt x="732105" y="34407"/>
                      <a:pt x="793349" y="95651"/>
                    </a:cubicBezTo>
                    <a:cubicBezTo>
                      <a:pt x="854593" y="156895"/>
                      <a:pt x="889000" y="239959"/>
                      <a:pt x="889000" y="326571"/>
                    </a:cubicBezTo>
                    <a:lnTo>
                      <a:pt x="889000" y="562429"/>
                    </a:lnTo>
                    <a:cubicBezTo>
                      <a:pt x="889000" y="649041"/>
                      <a:pt x="854593" y="732105"/>
                      <a:pt x="793349" y="793349"/>
                    </a:cubicBezTo>
                    <a:cubicBezTo>
                      <a:pt x="732105" y="854593"/>
                      <a:pt x="649041" y="889000"/>
                      <a:pt x="562429" y="889000"/>
                    </a:cubicBezTo>
                    <a:lnTo>
                      <a:pt x="326571" y="889000"/>
                    </a:lnTo>
                    <a:cubicBezTo>
                      <a:pt x="239959" y="889000"/>
                      <a:pt x="156895" y="854593"/>
                      <a:pt x="95651" y="793349"/>
                    </a:cubicBezTo>
                    <a:cubicBezTo>
                      <a:pt x="34407" y="732105"/>
                      <a:pt x="0" y="649041"/>
                      <a:pt x="0" y="562429"/>
                    </a:cubicBezTo>
                    <a:lnTo>
                      <a:pt x="0" y="326571"/>
                    </a:lnTo>
                    <a:cubicBezTo>
                      <a:pt x="0" y="239959"/>
                      <a:pt x="34407" y="156895"/>
                      <a:pt x="95651" y="95651"/>
                    </a:cubicBezTo>
                    <a:cubicBezTo>
                      <a:pt x="156895" y="34407"/>
                      <a:pt x="239959" y="0"/>
                      <a:pt x="326571" y="0"/>
                    </a:cubicBezTo>
                    <a:close/>
                  </a:path>
                </a:pathLst>
              </a:custGeom>
              <a:solidFill>
                <a:srgbClr val="FF6B5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889000" cy="869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2</a:t>
                </a: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159000" y="406400"/>
              <a:ext cx="18034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Pay the ₹1500 examination fee online.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47750" y="6048375"/>
            <a:ext cx="16192500" cy="1095375"/>
            <a:chOff x="0" y="0"/>
            <a:chExt cx="21590000" cy="14605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21590000" cy="1460500"/>
              <a:chOff x="0" y="0"/>
              <a:chExt cx="21590000" cy="14605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1590000" cy="1460500"/>
              </a:xfrm>
              <a:custGeom>
                <a:avLst/>
                <a:gdLst/>
                <a:ahLst/>
                <a:cxnLst/>
                <a:rect r="r" b="b" t="t" l="l"/>
                <a:pathLst>
                  <a:path h="1460500" w="21590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1460500"/>
                    </a:lnTo>
                    <a:lnTo>
                      <a:pt x="0" y="1460500"/>
                    </a:ln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21590000" cy="1498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444500" y="279400"/>
              <a:ext cx="889000" cy="889000"/>
              <a:chOff x="0" y="0"/>
              <a:chExt cx="889000" cy="889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89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889000">
                    <a:moveTo>
                      <a:pt x="326571" y="0"/>
                    </a:moveTo>
                    <a:lnTo>
                      <a:pt x="562429" y="0"/>
                    </a:lnTo>
                    <a:cubicBezTo>
                      <a:pt x="649041" y="0"/>
                      <a:pt x="732105" y="34407"/>
                      <a:pt x="793349" y="95651"/>
                    </a:cubicBezTo>
                    <a:cubicBezTo>
                      <a:pt x="854593" y="156895"/>
                      <a:pt x="889000" y="239959"/>
                      <a:pt x="889000" y="326571"/>
                    </a:cubicBezTo>
                    <a:lnTo>
                      <a:pt x="889000" y="562429"/>
                    </a:lnTo>
                    <a:cubicBezTo>
                      <a:pt x="889000" y="649041"/>
                      <a:pt x="854593" y="732105"/>
                      <a:pt x="793349" y="793349"/>
                    </a:cubicBezTo>
                    <a:cubicBezTo>
                      <a:pt x="732105" y="854593"/>
                      <a:pt x="649041" y="889000"/>
                      <a:pt x="562429" y="889000"/>
                    </a:cubicBezTo>
                    <a:lnTo>
                      <a:pt x="326571" y="889000"/>
                    </a:lnTo>
                    <a:cubicBezTo>
                      <a:pt x="239959" y="889000"/>
                      <a:pt x="156895" y="854593"/>
                      <a:pt x="95651" y="793349"/>
                    </a:cubicBezTo>
                    <a:cubicBezTo>
                      <a:pt x="34407" y="732105"/>
                      <a:pt x="0" y="649041"/>
                      <a:pt x="0" y="562429"/>
                    </a:cubicBezTo>
                    <a:lnTo>
                      <a:pt x="0" y="326571"/>
                    </a:lnTo>
                    <a:cubicBezTo>
                      <a:pt x="0" y="239959"/>
                      <a:pt x="34407" y="156895"/>
                      <a:pt x="95651" y="95651"/>
                    </a:cubicBezTo>
                    <a:cubicBezTo>
                      <a:pt x="156895" y="34407"/>
                      <a:pt x="239959" y="0"/>
                      <a:pt x="326571" y="0"/>
                    </a:cubicBez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19050"/>
                <a:ext cx="889000" cy="869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3</a:t>
                </a: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159000" y="406400"/>
              <a:ext cx="18034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If attendance is below 75%, submit a condonation application and medical certificate to the HOD office.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47750" y="7429500"/>
            <a:ext cx="16192500" cy="1095375"/>
            <a:chOff x="0" y="0"/>
            <a:chExt cx="21590000" cy="14605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21590000" cy="1460500"/>
              <a:chOff x="0" y="0"/>
              <a:chExt cx="21590000" cy="14605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1590000" cy="1460500"/>
              </a:xfrm>
              <a:custGeom>
                <a:avLst/>
                <a:gdLst/>
                <a:ahLst/>
                <a:cxnLst/>
                <a:rect r="r" b="b" t="t" l="l"/>
                <a:pathLst>
                  <a:path h="1460500" w="21590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1460500"/>
                    </a:lnTo>
                    <a:lnTo>
                      <a:pt x="0" y="1460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21590000" cy="1498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444500" y="279400"/>
              <a:ext cx="889000" cy="889000"/>
              <a:chOff x="0" y="0"/>
              <a:chExt cx="889000" cy="8890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89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889000">
                    <a:moveTo>
                      <a:pt x="326571" y="0"/>
                    </a:moveTo>
                    <a:lnTo>
                      <a:pt x="562429" y="0"/>
                    </a:lnTo>
                    <a:cubicBezTo>
                      <a:pt x="649041" y="0"/>
                      <a:pt x="732105" y="34407"/>
                      <a:pt x="793349" y="95651"/>
                    </a:cubicBezTo>
                    <a:cubicBezTo>
                      <a:pt x="854593" y="156895"/>
                      <a:pt x="889000" y="239959"/>
                      <a:pt x="889000" y="326571"/>
                    </a:cubicBezTo>
                    <a:lnTo>
                      <a:pt x="889000" y="562429"/>
                    </a:lnTo>
                    <a:cubicBezTo>
                      <a:pt x="889000" y="649041"/>
                      <a:pt x="854593" y="732105"/>
                      <a:pt x="793349" y="793349"/>
                    </a:cubicBezTo>
                    <a:cubicBezTo>
                      <a:pt x="732105" y="854593"/>
                      <a:pt x="649041" y="889000"/>
                      <a:pt x="562429" y="889000"/>
                    </a:cubicBezTo>
                    <a:lnTo>
                      <a:pt x="326571" y="889000"/>
                    </a:lnTo>
                    <a:cubicBezTo>
                      <a:pt x="239959" y="889000"/>
                      <a:pt x="156895" y="854593"/>
                      <a:pt x="95651" y="793349"/>
                    </a:cubicBezTo>
                    <a:cubicBezTo>
                      <a:pt x="34407" y="732105"/>
                      <a:pt x="0" y="649041"/>
                      <a:pt x="0" y="562429"/>
                    </a:cubicBezTo>
                    <a:lnTo>
                      <a:pt x="0" y="326571"/>
                    </a:lnTo>
                    <a:cubicBezTo>
                      <a:pt x="0" y="239959"/>
                      <a:pt x="34407" y="156895"/>
                      <a:pt x="95651" y="95651"/>
                    </a:cubicBezTo>
                    <a:cubicBezTo>
                      <a:pt x="156895" y="34407"/>
                      <a:pt x="239959" y="0"/>
                      <a:pt x="326571" y="0"/>
                    </a:cubicBezTo>
                    <a:close/>
                  </a:path>
                </a:pathLst>
              </a:custGeom>
              <a:solidFill>
                <a:srgbClr val="FF6B5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889000" cy="869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true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4</a:t>
                </a: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2159000" y="406400"/>
              <a:ext cx="18034000" cy="443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Review extracted actions against the original notice.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857250"/>
            <a:ext cx="7524750" cy="7810500"/>
            <a:chOff x="0" y="0"/>
            <a:chExt cx="10033000" cy="10414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033000" cy="10414000"/>
              <a:chOff x="0" y="0"/>
              <a:chExt cx="10033000" cy="10414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033000" cy="10414000"/>
              </a:xfrm>
              <a:custGeom>
                <a:avLst/>
                <a:gdLst/>
                <a:ahLst/>
                <a:cxnLst/>
                <a:rect r="r" b="b" t="t" l="l"/>
                <a:pathLst>
                  <a:path h="10414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0414000"/>
                    </a:lnTo>
                    <a:lnTo>
                      <a:pt x="0" y="10414000"/>
                    </a:ln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0033000" cy="1045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508000" y="479425"/>
              <a:ext cx="6350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40" b="true">
                  <a:solidFill>
                    <a:srgbClr val="9EE8C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LIMITATIONS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508000" y="1384300"/>
              <a:ext cx="8255000" cy="8585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59"/>
                </a:lnSpc>
              </a:pPr>
              <a:r>
                <a:rPr lang="en-US" sz="3900" b="true">
                  <a:solidFill>
                    <a:srgbClr val="F4F1E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What remains hard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08000" y="3390900"/>
              <a:ext cx="8255000" cy="2729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• Current project focuses on pasted text and .txt uploads.</a:t>
              </a:r>
            </a:p>
            <a:p>
              <a:pPr algn="l">
                <a:lnSpc>
                  <a:spcPts val="2733"/>
                </a:lnSpc>
              </a:pP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• Demo Mode may miss nuanced meaning.</a:t>
              </a:r>
            </a:p>
            <a:p>
              <a:pPr algn="l">
                <a:lnSpc>
                  <a:spcPts val="2733"/>
                </a:lnSpc>
              </a:pP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• Gemini can misinterpret ambiguous notices.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15500" y="857250"/>
            <a:ext cx="7524750" cy="7810500"/>
            <a:chOff x="0" y="0"/>
            <a:chExt cx="10033000" cy="10414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033000" cy="10414000"/>
              <a:chOff x="0" y="0"/>
              <a:chExt cx="10033000" cy="10414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33000" cy="10414000"/>
              </a:xfrm>
              <a:custGeom>
                <a:avLst/>
                <a:gdLst/>
                <a:ahLst/>
                <a:cxnLst/>
                <a:rect r="r" b="b" t="t" l="l"/>
                <a:pathLst>
                  <a:path h="10414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0414000"/>
                    </a:lnTo>
                    <a:lnTo>
                      <a:pt x="0" y="10414000"/>
                    </a:lnTo>
                    <a:close/>
                  </a:path>
                </a:pathLst>
              </a:custGeom>
              <a:solidFill>
                <a:srgbClr val="1720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033000" cy="1045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08000" y="479425"/>
              <a:ext cx="6350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40" b="true">
                  <a:solidFill>
                    <a:srgbClr val="9EE8C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FUTURE SCOPE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508000" y="1384300"/>
              <a:ext cx="8255000" cy="8585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59"/>
                </a:lnSpc>
              </a:pPr>
              <a:r>
                <a:rPr lang="en-US" sz="3900" b="true">
                  <a:solidFill>
                    <a:srgbClr val="F4F1E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Where it can grow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08000" y="3390900"/>
              <a:ext cx="8255000" cy="3187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• Richer document ingestion.</a:t>
              </a:r>
            </a:p>
            <a:p>
              <a:pPr algn="l">
                <a:lnSpc>
                  <a:spcPts val="2733"/>
                </a:lnSpc>
              </a:pP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• Improved date/context resolution.</a:t>
              </a:r>
            </a:p>
            <a:p>
              <a:pPr algn="l">
                <a:lnSpc>
                  <a:spcPts val="2733"/>
                </a:lnSpc>
              </a:pP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• More notice formats.</a:t>
              </a:r>
            </a:p>
            <a:p>
              <a:pPr algn="l">
                <a:lnSpc>
                  <a:spcPts val="2733"/>
                </a:lnSpc>
              </a:pPr>
            </a:p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4F1EA"/>
                  </a:solidFill>
                  <a:latin typeface="Open Sans"/>
                  <a:ea typeface="Open Sans"/>
                  <a:cs typeface="Open Sans"/>
                  <a:sym typeface="Open Sans"/>
                </a:rPr>
                <a:t>• Broader deployment.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590550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40" b="true">
                <a:solidFill>
                  <a:srgbClr val="FF6B5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DELIVERY WORKFLOW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1152525"/>
            <a:ext cx="14287500" cy="64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650" b="true">
                <a:solidFill>
                  <a:srgbClr val="1720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GitHub Workflow &amp; 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1962150"/>
            <a:ext cx="13335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667085"/>
                </a:solidFill>
                <a:latin typeface="Open Sans"/>
                <a:ea typeface="Open Sans"/>
                <a:cs typeface="Open Sans"/>
                <a:sym typeface="Open Sans"/>
              </a:rPr>
              <a:t>From an idea to a reliable student-facing tool</a:t>
            </a:r>
          </a:p>
        </p:txBody>
      </p:sp>
      <p:sp>
        <p:nvSpPr>
          <p:cNvPr name="AutoShape 5" id="5"/>
          <p:cNvSpPr/>
          <p:nvPr/>
        </p:nvSpPr>
        <p:spPr>
          <a:xfrm>
            <a:off x="2095500" y="3476625"/>
            <a:ext cx="14001750" cy="0"/>
          </a:xfrm>
          <a:prstGeom prst="line">
            <a:avLst/>
          </a:prstGeom>
          <a:ln cap="rnd" w="47625">
            <a:solidFill>
              <a:srgbClr val="FF6B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00125" y="3143250"/>
            <a:ext cx="2381250" cy="1101090"/>
            <a:chOff x="0" y="0"/>
            <a:chExt cx="3175000" cy="146812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825500" y="0"/>
              <a:ext cx="1524000" cy="889000"/>
              <a:chOff x="0" y="0"/>
              <a:chExt cx="1524000" cy="889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524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1524000">
                    <a:moveTo>
                      <a:pt x="190500" y="0"/>
                    </a:moveTo>
                    <a:lnTo>
                      <a:pt x="1333500" y="0"/>
                    </a:lnTo>
                    <a:cubicBezTo>
                      <a:pt x="1438710" y="0"/>
                      <a:pt x="1524000" y="85290"/>
                      <a:pt x="1524000" y="190500"/>
                    </a:cubicBezTo>
                    <a:lnTo>
                      <a:pt x="1524000" y="698500"/>
                    </a:lnTo>
                    <a:cubicBezTo>
                      <a:pt x="1524000" y="803710"/>
                      <a:pt x="1438710" y="889000"/>
                      <a:pt x="1333500" y="889000"/>
                    </a:cubicBezTo>
                    <a:lnTo>
                      <a:pt x="190500" y="889000"/>
                    </a:lnTo>
                    <a:cubicBezTo>
                      <a:pt x="85290" y="889000"/>
                      <a:pt x="0" y="803710"/>
                      <a:pt x="0" y="698500"/>
                    </a:cubicBezTo>
                    <a:lnTo>
                      <a:pt x="0" y="190500"/>
                    </a:lnTo>
                    <a:cubicBezTo>
                      <a:pt x="0" y="85290"/>
                      <a:pt x="85290" y="0"/>
                      <a:pt x="1905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19050"/>
                <a:ext cx="1524000" cy="869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true">
                    <a:solidFill>
                      <a:srgbClr val="0B122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1</a:t>
                </a: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1104900"/>
              <a:ext cx="3175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1720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Issues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62375" y="3143250"/>
            <a:ext cx="2381250" cy="1101090"/>
            <a:chOff x="0" y="0"/>
            <a:chExt cx="3175000" cy="146812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825500" y="0"/>
              <a:ext cx="1524000" cy="889000"/>
              <a:chOff x="0" y="0"/>
              <a:chExt cx="1524000" cy="889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524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1524000">
                    <a:moveTo>
                      <a:pt x="190500" y="0"/>
                    </a:moveTo>
                    <a:lnTo>
                      <a:pt x="1333500" y="0"/>
                    </a:lnTo>
                    <a:cubicBezTo>
                      <a:pt x="1438710" y="0"/>
                      <a:pt x="1524000" y="85290"/>
                      <a:pt x="1524000" y="190500"/>
                    </a:cubicBezTo>
                    <a:lnTo>
                      <a:pt x="1524000" y="698500"/>
                    </a:lnTo>
                    <a:cubicBezTo>
                      <a:pt x="1524000" y="803710"/>
                      <a:pt x="1438710" y="889000"/>
                      <a:pt x="1333500" y="889000"/>
                    </a:cubicBezTo>
                    <a:lnTo>
                      <a:pt x="190500" y="889000"/>
                    </a:lnTo>
                    <a:cubicBezTo>
                      <a:pt x="85290" y="889000"/>
                      <a:pt x="0" y="803710"/>
                      <a:pt x="0" y="698500"/>
                    </a:cubicBezTo>
                    <a:lnTo>
                      <a:pt x="0" y="190500"/>
                    </a:lnTo>
                    <a:cubicBezTo>
                      <a:pt x="0" y="85290"/>
                      <a:pt x="85290" y="0"/>
                      <a:pt x="1905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19050"/>
                <a:ext cx="1524000" cy="869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true">
                    <a:solidFill>
                      <a:srgbClr val="0B122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2</a:t>
                </a: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1104900"/>
              <a:ext cx="3175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1720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Branch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24625" y="3143250"/>
            <a:ext cx="2381250" cy="1101090"/>
            <a:chOff x="0" y="0"/>
            <a:chExt cx="3175000" cy="146812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825500" y="0"/>
              <a:ext cx="1524000" cy="889000"/>
              <a:chOff x="0" y="0"/>
              <a:chExt cx="1524000" cy="889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524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1524000">
                    <a:moveTo>
                      <a:pt x="190500" y="0"/>
                    </a:moveTo>
                    <a:lnTo>
                      <a:pt x="1333500" y="0"/>
                    </a:lnTo>
                    <a:cubicBezTo>
                      <a:pt x="1438710" y="0"/>
                      <a:pt x="1524000" y="85290"/>
                      <a:pt x="1524000" y="190500"/>
                    </a:cubicBezTo>
                    <a:lnTo>
                      <a:pt x="1524000" y="698500"/>
                    </a:lnTo>
                    <a:cubicBezTo>
                      <a:pt x="1524000" y="803710"/>
                      <a:pt x="1438710" y="889000"/>
                      <a:pt x="1333500" y="889000"/>
                    </a:cubicBezTo>
                    <a:lnTo>
                      <a:pt x="190500" y="889000"/>
                    </a:lnTo>
                    <a:cubicBezTo>
                      <a:pt x="85290" y="889000"/>
                      <a:pt x="0" y="803710"/>
                      <a:pt x="0" y="698500"/>
                    </a:cubicBezTo>
                    <a:lnTo>
                      <a:pt x="0" y="190500"/>
                    </a:lnTo>
                    <a:cubicBezTo>
                      <a:pt x="0" y="85290"/>
                      <a:pt x="85290" y="0"/>
                      <a:pt x="1905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1524000" cy="869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true">
                    <a:solidFill>
                      <a:srgbClr val="0B122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3</a:t>
                </a: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0" y="1104900"/>
              <a:ext cx="3175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1720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Commit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286875" y="3143250"/>
            <a:ext cx="2381250" cy="1101090"/>
            <a:chOff x="0" y="0"/>
            <a:chExt cx="3175000" cy="146812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825500" y="0"/>
              <a:ext cx="1524000" cy="889000"/>
              <a:chOff x="0" y="0"/>
              <a:chExt cx="1524000" cy="889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524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1524000">
                    <a:moveTo>
                      <a:pt x="190500" y="0"/>
                    </a:moveTo>
                    <a:lnTo>
                      <a:pt x="1333500" y="0"/>
                    </a:lnTo>
                    <a:cubicBezTo>
                      <a:pt x="1438710" y="0"/>
                      <a:pt x="1524000" y="85290"/>
                      <a:pt x="1524000" y="190500"/>
                    </a:cubicBezTo>
                    <a:lnTo>
                      <a:pt x="1524000" y="698500"/>
                    </a:lnTo>
                    <a:cubicBezTo>
                      <a:pt x="1524000" y="803710"/>
                      <a:pt x="1438710" y="889000"/>
                      <a:pt x="1333500" y="889000"/>
                    </a:cubicBezTo>
                    <a:lnTo>
                      <a:pt x="190500" y="889000"/>
                    </a:lnTo>
                    <a:cubicBezTo>
                      <a:pt x="85290" y="889000"/>
                      <a:pt x="0" y="803710"/>
                      <a:pt x="0" y="698500"/>
                    </a:cubicBezTo>
                    <a:lnTo>
                      <a:pt x="0" y="190500"/>
                    </a:lnTo>
                    <a:cubicBezTo>
                      <a:pt x="0" y="85290"/>
                      <a:pt x="85290" y="0"/>
                      <a:pt x="1905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19050"/>
                <a:ext cx="1524000" cy="869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true">
                    <a:solidFill>
                      <a:srgbClr val="0B122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4</a:t>
                </a: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0" y="1104900"/>
              <a:ext cx="3175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1720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Pull Request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49125" y="3143250"/>
            <a:ext cx="2381250" cy="1101090"/>
            <a:chOff x="0" y="0"/>
            <a:chExt cx="3175000" cy="146812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825500" y="0"/>
              <a:ext cx="1524000" cy="889000"/>
              <a:chOff x="0" y="0"/>
              <a:chExt cx="1524000" cy="889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524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1524000">
                    <a:moveTo>
                      <a:pt x="190500" y="0"/>
                    </a:moveTo>
                    <a:lnTo>
                      <a:pt x="1333500" y="0"/>
                    </a:lnTo>
                    <a:cubicBezTo>
                      <a:pt x="1438710" y="0"/>
                      <a:pt x="1524000" y="85290"/>
                      <a:pt x="1524000" y="190500"/>
                    </a:cubicBezTo>
                    <a:lnTo>
                      <a:pt x="1524000" y="698500"/>
                    </a:lnTo>
                    <a:cubicBezTo>
                      <a:pt x="1524000" y="803710"/>
                      <a:pt x="1438710" y="889000"/>
                      <a:pt x="1333500" y="889000"/>
                    </a:cubicBezTo>
                    <a:lnTo>
                      <a:pt x="190500" y="889000"/>
                    </a:lnTo>
                    <a:cubicBezTo>
                      <a:pt x="85290" y="889000"/>
                      <a:pt x="0" y="803710"/>
                      <a:pt x="0" y="698500"/>
                    </a:cubicBezTo>
                    <a:lnTo>
                      <a:pt x="0" y="190500"/>
                    </a:lnTo>
                    <a:cubicBezTo>
                      <a:pt x="0" y="85290"/>
                      <a:pt x="85290" y="0"/>
                      <a:pt x="190500" y="0"/>
                    </a:cubicBezTo>
                    <a:close/>
                  </a:path>
                </a:pathLst>
              </a:custGeom>
              <a:solidFill>
                <a:srgbClr val="9EE8C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19050"/>
                <a:ext cx="1524000" cy="869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true">
                    <a:solidFill>
                      <a:srgbClr val="0B122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5</a:t>
                </a: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0" y="1104900"/>
              <a:ext cx="3175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1720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Review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811375" y="3143250"/>
            <a:ext cx="2381250" cy="1101090"/>
            <a:chOff x="0" y="0"/>
            <a:chExt cx="3175000" cy="146812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825500" y="0"/>
              <a:ext cx="1524000" cy="889000"/>
              <a:chOff x="0" y="0"/>
              <a:chExt cx="1524000" cy="889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524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1524000">
                    <a:moveTo>
                      <a:pt x="190500" y="0"/>
                    </a:moveTo>
                    <a:lnTo>
                      <a:pt x="1333500" y="0"/>
                    </a:lnTo>
                    <a:cubicBezTo>
                      <a:pt x="1438710" y="0"/>
                      <a:pt x="1524000" y="85290"/>
                      <a:pt x="1524000" y="190500"/>
                    </a:cubicBezTo>
                    <a:lnTo>
                      <a:pt x="1524000" y="698500"/>
                    </a:lnTo>
                    <a:cubicBezTo>
                      <a:pt x="1524000" y="803710"/>
                      <a:pt x="1438710" y="889000"/>
                      <a:pt x="1333500" y="889000"/>
                    </a:cubicBezTo>
                    <a:lnTo>
                      <a:pt x="190500" y="889000"/>
                    </a:lnTo>
                    <a:cubicBezTo>
                      <a:pt x="85290" y="889000"/>
                      <a:pt x="0" y="803710"/>
                      <a:pt x="0" y="698500"/>
                    </a:cubicBezTo>
                    <a:lnTo>
                      <a:pt x="0" y="190500"/>
                    </a:lnTo>
                    <a:cubicBezTo>
                      <a:pt x="0" y="85290"/>
                      <a:pt x="85290" y="0"/>
                      <a:pt x="190500" y="0"/>
                    </a:cubicBezTo>
                    <a:close/>
                  </a:path>
                </a:pathLst>
              </a:custGeom>
              <a:solidFill>
                <a:srgbClr val="FF6B5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9050"/>
                <a:ext cx="1524000" cy="869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3"/>
                  </a:lnSpc>
                </a:pPr>
                <a:r>
                  <a:rPr lang="en-US" sz="1725" b="true">
                    <a:solidFill>
                      <a:srgbClr val="0B122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6</a:t>
                </a: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0" y="1104900"/>
              <a:ext cx="3175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1650" b="true">
                  <a:solidFill>
                    <a:srgbClr val="1720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Merge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33500" y="6191250"/>
            <a:ext cx="15049500" cy="342900"/>
            <a:chOff x="0" y="0"/>
            <a:chExt cx="20066000" cy="4572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101600"/>
              <a:ext cx="355600" cy="355600"/>
              <a:chOff x="0" y="0"/>
              <a:chExt cx="355600" cy="3556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355600" cy="355600"/>
              </a:xfrm>
              <a:custGeom>
                <a:avLst/>
                <a:gdLst/>
                <a:ahLst/>
                <a:cxnLst/>
                <a:rect r="r" b="b" t="t" l="l"/>
                <a:pathLst>
                  <a:path h="355600" w="355600">
                    <a:moveTo>
                      <a:pt x="177800" y="0"/>
                    </a:moveTo>
                    <a:cubicBezTo>
                      <a:pt x="275996" y="0"/>
                      <a:pt x="355600" y="79604"/>
                      <a:pt x="355600" y="177800"/>
                    </a:cubicBezTo>
                    <a:cubicBezTo>
                      <a:pt x="355600" y="275996"/>
                      <a:pt x="275996" y="355600"/>
                      <a:pt x="177800" y="355600"/>
                    </a:cubicBezTo>
                    <a:cubicBezTo>
                      <a:pt x="79604" y="355600"/>
                      <a:pt x="0" y="275996"/>
                      <a:pt x="0" y="177800"/>
                    </a:cubicBezTo>
                    <a:cubicBezTo>
                      <a:pt x="0" y="79604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FF6B57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39" id="39"/>
            <p:cNvSpPr txBox="true"/>
            <p:nvPr/>
          </p:nvSpPr>
          <p:spPr>
            <a:xfrm rot="0">
              <a:off x="1016000" y="-28575"/>
              <a:ext cx="1905000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Notice Action Extractor turns complicated college notices into clear, structured student actions.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33500" y="6838950"/>
            <a:ext cx="15049500" cy="342900"/>
            <a:chOff x="0" y="0"/>
            <a:chExt cx="20066000" cy="457200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101600"/>
              <a:ext cx="355600" cy="355600"/>
              <a:chOff x="0" y="0"/>
              <a:chExt cx="355600" cy="3556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355600" cy="355600"/>
              </a:xfrm>
              <a:custGeom>
                <a:avLst/>
                <a:gdLst/>
                <a:ahLst/>
                <a:cxnLst/>
                <a:rect r="r" b="b" t="t" l="l"/>
                <a:pathLst>
                  <a:path h="355600" w="355600">
                    <a:moveTo>
                      <a:pt x="177800" y="0"/>
                    </a:moveTo>
                    <a:cubicBezTo>
                      <a:pt x="275996" y="0"/>
                      <a:pt x="355600" y="79604"/>
                      <a:pt x="355600" y="177800"/>
                    </a:cubicBezTo>
                    <a:cubicBezTo>
                      <a:pt x="355600" y="275996"/>
                      <a:pt x="275996" y="355600"/>
                      <a:pt x="177800" y="355600"/>
                    </a:cubicBezTo>
                    <a:cubicBezTo>
                      <a:pt x="79604" y="355600"/>
                      <a:pt x="0" y="275996"/>
                      <a:pt x="0" y="177800"/>
                    </a:cubicBezTo>
                    <a:cubicBezTo>
                      <a:pt x="0" y="79604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FF6B57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43" id="43"/>
            <p:cNvSpPr txBox="true"/>
            <p:nvPr/>
          </p:nvSpPr>
          <p:spPr>
            <a:xfrm rot="0">
              <a:off x="1016000" y="-28575"/>
              <a:ext cx="1905000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Gemini Mode provides AI-based extraction.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33500" y="7486650"/>
            <a:ext cx="15049500" cy="342900"/>
            <a:chOff x="0" y="0"/>
            <a:chExt cx="20066000" cy="457200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101600"/>
              <a:ext cx="355600" cy="355600"/>
              <a:chOff x="0" y="0"/>
              <a:chExt cx="355600" cy="3556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355600" cy="355600"/>
              </a:xfrm>
              <a:custGeom>
                <a:avLst/>
                <a:gdLst/>
                <a:ahLst/>
                <a:cxnLst/>
                <a:rect r="r" b="b" t="t" l="l"/>
                <a:pathLst>
                  <a:path h="355600" w="355600">
                    <a:moveTo>
                      <a:pt x="177800" y="0"/>
                    </a:moveTo>
                    <a:cubicBezTo>
                      <a:pt x="275996" y="0"/>
                      <a:pt x="355600" y="79604"/>
                      <a:pt x="355600" y="177800"/>
                    </a:cubicBezTo>
                    <a:cubicBezTo>
                      <a:pt x="355600" y="275996"/>
                      <a:pt x="275996" y="355600"/>
                      <a:pt x="177800" y="355600"/>
                    </a:cubicBezTo>
                    <a:cubicBezTo>
                      <a:pt x="79604" y="355600"/>
                      <a:pt x="0" y="275996"/>
                      <a:pt x="0" y="177800"/>
                    </a:cubicBezTo>
                    <a:cubicBezTo>
                      <a:pt x="0" y="79604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FF6B57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47" id="47"/>
            <p:cNvSpPr txBox="true"/>
            <p:nvPr/>
          </p:nvSpPr>
          <p:spPr>
            <a:xfrm rot="0">
              <a:off x="1016000" y="-28575"/>
              <a:ext cx="1905000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Demo Mode provides deterministic local processing.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33500" y="8134350"/>
            <a:ext cx="15049500" cy="342900"/>
            <a:chOff x="0" y="0"/>
            <a:chExt cx="20066000" cy="457200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101600"/>
              <a:ext cx="355600" cy="355600"/>
              <a:chOff x="0" y="0"/>
              <a:chExt cx="355600" cy="3556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355600" cy="355600"/>
              </a:xfrm>
              <a:custGeom>
                <a:avLst/>
                <a:gdLst/>
                <a:ahLst/>
                <a:cxnLst/>
                <a:rect r="r" b="b" t="t" l="l"/>
                <a:pathLst>
                  <a:path h="355600" w="355600">
                    <a:moveTo>
                      <a:pt x="177800" y="0"/>
                    </a:moveTo>
                    <a:cubicBezTo>
                      <a:pt x="275996" y="0"/>
                      <a:pt x="355600" y="79604"/>
                      <a:pt x="355600" y="177800"/>
                    </a:cubicBezTo>
                    <a:cubicBezTo>
                      <a:pt x="355600" y="275996"/>
                      <a:pt x="275996" y="355600"/>
                      <a:pt x="177800" y="355600"/>
                    </a:cubicBezTo>
                    <a:cubicBezTo>
                      <a:pt x="79604" y="355600"/>
                      <a:pt x="0" y="275996"/>
                      <a:pt x="0" y="177800"/>
                    </a:cubicBezTo>
                    <a:cubicBezTo>
                      <a:pt x="0" y="79604"/>
                      <a:pt x="79604" y="0"/>
                      <a:pt x="177800" y="0"/>
                    </a:cubicBezTo>
                    <a:close/>
                  </a:path>
                </a:pathLst>
              </a:custGeom>
              <a:solidFill>
                <a:srgbClr val="FF6B57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51" id="51"/>
            <p:cNvSpPr txBox="true"/>
            <p:nvPr/>
          </p:nvSpPr>
          <p:spPr>
            <a:xfrm rot="0">
              <a:off x="1016000" y="-28575"/>
              <a:ext cx="19050000" cy="386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172033"/>
                  </a:solidFill>
                  <a:latin typeface="Open Sans"/>
                  <a:ea typeface="Open Sans"/>
                  <a:cs typeface="Open Sans"/>
                  <a:sym typeface="Open Sans"/>
                </a:rPr>
                <a:t>Validation improves reliability.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66700" cy="10287000"/>
            <a:chOff x="0" y="0"/>
            <a:chExt cx="355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5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55600">
                  <a:moveTo>
                    <a:pt x="0" y="0"/>
                  </a:moveTo>
                  <a:lnTo>
                    <a:pt x="355600" y="0"/>
                  </a:lnTo>
                  <a:lnTo>
                    <a:pt x="355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6B57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5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906500" y="1238250"/>
            <a:ext cx="2857500" cy="2857500"/>
            <a:chOff x="0" y="0"/>
            <a:chExt cx="3810000" cy="381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1905000" y="0"/>
                  </a:moveTo>
                  <a:cubicBezTo>
                    <a:pt x="2957102" y="0"/>
                    <a:pt x="3810000" y="852898"/>
                    <a:pt x="3810000" y="1905000"/>
                  </a:cubicBezTo>
                  <a:cubicBezTo>
                    <a:pt x="3810000" y="2957102"/>
                    <a:pt x="2957102" y="3810000"/>
                    <a:pt x="1905000" y="3810000"/>
                  </a:cubicBezTo>
                  <a:cubicBezTo>
                    <a:pt x="852898" y="3810000"/>
                    <a:pt x="0" y="2957102"/>
                    <a:pt x="0" y="1905000"/>
                  </a:cubicBezTo>
                  <a:cubicBezTo>
                    <a:pt x="0" y="852898"/>
                    <a:pt x="852898" y="0"/>
                    <a:pt x="1905000" y="0"/>
                  </a:cubicBezTo>
                  <a:close/>
                </a:path>
              </a:pathLst>
            </a:custGeom>
            <a:solidFill>
              <a:srgbClr val="9EE8C2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47750" y="1609725"/>
            <a:ext cx="11430000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F4F1E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NOTICE ACTION</a:t>
            </a:r>
          </a:p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F4F1E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EXTRACTOR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4419600"/>
            <a:ext cx="85725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FF6B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6915150"/>
            <a:ext cx="476250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4F1EA"/>
                </a:solidFill>
                <a:latin typeface="Open Sans"/>
                <a:ea typeface="Open Sans"/>
                <a:cs typeface="Open Sans"/>
                <a:sym typeface="Open Sans"/>
              </a:rPr>
              <a:t>Harsh Yadav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7448550"/>
            <a:ext cx="476250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4F1EA"/>
                </a:solidFill>
                <a:latin typeface="Open Sans"/>
                <a:ea typeface="Open Sans"/>
                <a:cs typeface="Open Sans"/>
                <a:sym typeface="Open Sans"/>
              </a:rPr>
              <a:t>23FE10CDS00273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43750" y="6915150"/>
            <a:ext cx="571500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4F1EA"/>
                </a:solidFill>
                <a:latin typeface="Open Sans"/>
                <a:ea typeface="Open Sans"/>
                <a:cs typeface="Open Sans"/>
                <a:sym typeface="Open Sans"/>
              </a:rPr>
              <a:t>Data Science • Section 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43750" y="7448550"/>
            <a:ext cx="5715000" cy="34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4F1EA"/>
                </a:solidFill>
                <a:latin typeface="Open Sans"/>
                <a:ea typeface="Open Sans"/>
                <a:cs typeface="Open Sans"/>
                <a:sym typeface="Open Sans"/>
              </a:rPr>
              <a:t>GitHub: 12harsh-spec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DAHXJgsBM4c</dc:identifier>
  <dcterms:modified xsi:type="dcterms:W3CDTF">2011-08-01T06:04:30Z</dcterms:modified>
  <cp:revision>1</cp:revision>
  <dc:title>Notice Action Extractor</dc:title>
</cp:coreProperties>
</file>